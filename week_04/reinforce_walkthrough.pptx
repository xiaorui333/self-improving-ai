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71" r:id="rId14"/>
    <p:sldId id="272" r:id="rId15"/>
    <p:sldId id="273"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6"/>
    <p:restoredTop sz="70718"/>
  </p:normalViewPr>
  <p:slideViewPr>
    <p:cSldViewPr snapToGrid="0" snapToObjects="1">
      <p:cViewPr varScale="1">
        <p:scale>
          <a:sx n="158" d="100"/>
          <a:sy n="158" d="100"/>
        </p:scale>
        <p:origin x="3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8318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this lecture I will do two things together. First, I will derive REINFORCE carefully, one algebra step at a time. Second, I will show how each math object appears in the </a:t>
            </a:r>
            <a:r>
              <a:rPr lang="en-US" sz="1200" kern="1200" dirty="0" err="1">
                <a:solidFill>
                  <a:schemeClr val="tx1"/>
                </a:solidFill>
                <a:effectLst/>
                <a:latin typeface="+mn-lt"/>
                <a:ea typeface="+mn-ea"/>
                <a:cs typeface="+mn-cs"/>
              </a:rPr>
              <a:t>PyTorch</a:t>
            </a:r>
            <a:r>
              <a:rPr lang="en-US" sz="1200" kern="1200" dirty="0">
                <a:solidFill>
                  <a:schemeClr val="tx1"/>
                </a:solidFill>
                <a:effectLst/>
                <a:latin typeface="+mn-lt"/>
                <a:ea typeface="+mn-ea"/>
                <a:cs typeface="+mn-cs"/>
              </a:rPr>
              <a:t> code. The big idea is simple: REINFORCE tells us how to change policy parameters so that actions leading to high return become more likely. This is the starting point for later policy-gradient methods such as actor-critic, PPO, and more advanced algorithms.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episode begins with an initial state </a:t>
            </a:r>
            <a:r>
              <a:rPr lang="en-US" b="1" dirty="0"/>
              <a:t>s-zero</a:t>
            </a:r>
            <a:r>
              <a:rPr lang="en-US" dirty="0"/>
              <a:t>. At each step </a:t>
            </a:r>
            <a:r>
              <a:rPr lang="en-US" b="1" dirty="0"/>
              <a:t>t</a:t>
            </a:r>
            <a:r>
              <a:rPr lang="en-US" dirty="0"/>
              <a:t>, the agent samples an action </a:t>
            </a:r>
            <a:r>
              <a:rPr lang="en-US" b="1" dirty="0"/>
              <a:t>a-t</a:t>
            </a:r>
            <a:r>
              <a:rPr lang="en-US" dirty="0"/>
              <a:t> from the policy </a:t>
            </a:r>
            <a:r>
              <a:rPr lang="en-US" b="1" dirty="0"/>
              <a:t>pi-theta</a:t>
            </a:r>
            <a:r>
              <a:rPr lang="en-US" dirty="0"/>
              <a:t>, conditioned on that state. The environment responds with the next state and reward based on its transition rule </a:t>
            </a:r>
            <a:r>
              <a:rPr lang="en-US" b="1" dirty="0"/>
              <a:t>P</a:t>
            </a:r>
            <a:r>
              <a:rPr lang="en-US" dirty="0"/>
              <a:t>. Together, these form a trajectory </a:t>
            </a:r>
            <a:r>
              <a:rPr lang="en-US" b="1" dirty="0"/>
              <a:t>tau</a:t>
            </a:r>
            <a:r>
              <a:rPr lang="en-US" dirty="0"/>
              <a:t>. While the trajectory is random, the parameter </a:t>
            </a:r>
            <a:r>
              <a:rPr lang="en-US" b="1" dirty="0"/>
              <a:t>theta</a:t>
            </a:r>
            <a:r>
              <a:rPr lang="en-US" dirty="0"/>
              <a:t> is what we control to shape that randomness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Define J(</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as the expected return of the policy. For one trajectory </a:t>
            </a:r>
            <a:r>
              <a:rPr lang="en-US" sz="1200" kern="1200" dirty="0" err="1">
                <a:solidFill>
                  <a:schemeClr val="tx1"/>
                </a:solidFill>
                <a:effectLst/>
                <a:latin typeface="+mn-lt"/>
                <a:ea typeface="+mn-ea"/>
                <a:cs typeface="+mn-cs"/>
              </a:rPr>
              <a:t>τ</a:t>
            </a:r>
            <a:r>
              <a:rPr lang="en-US" sz="1200" kern="1200" dirty="0">
                <a:solidFill>
                  <a:schemeClr val="tx1"/>
                </a:solidFill>
                <a:effectLst/>
                <a:latin typeface="+mn-lt"/>
                <a:ea typeface="+mn-ea"/>
                <a:cs typeface="+mn-cs"/>
              </a:rPr>
              <a:t>, let R(</a:t>
            </a:r>
            <a:r>
              <a:rPr lang="en-US" sz="1200" kern="1200" dirty="0" err="1">
                <a:solidFill>
                  <a:schemeClr val="tx1"/>
                </a:solidFill>
                <a:effectLst/>
                <a:latin typeface="+mn-lt"/>
                <a:ea typeface="+mn-ea"/>
                <a:cs typeface="+mn-cs"/>
              </a:rPr>
              <a:t>τ</a:t>
            </a:r>
            <a:r>
              <a:rPr lang="en-US" sz="1200" kern="1200" dirty="0">
                <a:solidFill>
                  <a:schemeClr val="tx1"/>
                </a:solidFill>
                <a:effectLst/>
                <a:latin typeface="+mn-lt"/>
                <a:ea typeface="+mn-ea"/>
                <a:cs typeface="+mn-cs"/>
              </a:rPr>
              <a:t>) be the total reward collected along that trajectory. Then J(</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equals the expectation of R(</a:t>
            </a:r>
            <a:r>
              <a:rPr lang="en-US" sz="1200" kern="1200" dirty="0" err="1">
                <a:solidFill>
                  <a:schemeClr val="tx1"/>
                </a:solidFill>
                <a:effectLst/>
                <a:latin typeface="+mn-lt"/>
                <a:ea typeface="+mn-ea"/>
                <a:cs typeface="+mn-cs"/>
              </a:rPr>
              <a:t>τ</a:t>
            </a:r>
            <a:r>
              <a:rPr lang="en-US" sz="1200" kern="1200" dirty="0">
                <a:solidFill>
                  <a:schemeClr val="tx1"/>
                </a:solidFill>
                <a:effectLst/>
                <a:latin typeface="+mn-lt"/>
                <a:ea typeface="+mn-ea"/>
                <a:cs typeface="+mn-cs"/>
              </a:rPr>
              <a:t>) over trajectories sampled from the policy. Writing this as an integral is important because it makes the role of probability explicit: J(</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is a weighted average, where the weight on each trajectory is its probability p(</a:t>
            </a:r>
            <a:r>
              <a:rPr lang="en-US" sz="1200" kern="1200" dirty="0" err="1">
                <a:solidFill>
                  <a:schemeClr val="tx1"/>
                </a:solidFill>
                <a:effectLst/>
                <a:latin typeface="+mn-lt"/>
                <a:ea typeface="+mn-ea"/>
                <a:cs typeface="+mn-cs"/>
              </a:rPr>
              <a:t>τ|θ</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maximize </a:t>
            </a:r>
            <a:r>
              <a:rPr lang="en-US" b="1" dirty="0"/>
              <a:t>J of theta</a:t>
            </a:r>
            <a:r>
              <a:rPr lang="en-US" dirty="0"/>
              <a:t>, we need its gradient</a:t>
            </a:r>
            <a:r>
              <a:rPr lang="zh-CN" altLang="en-US" dirty="0"/>
              <a:t> </a:t>
            </a:r>
            <a:r>
              <a:rPr lang="en-US" sz="1200" kern="1200" dirty="0">
                <a:solidFill>
                  <a:schemeClr val="tx1"/>
                </a:solidFill>
                <a:effectLst/>
                <a:latin typeface="+mn-lt"/>
                <a:ea typeface="+mn-ea"/>
                <a:cs typeface="+mn-cs"/>
              </a:rPr>
              <a:t>with respect to </a:t>
            </a:r>
            <a:r>
              <a:rPr lang="en-US" sz="1200" kern="1200" dirty="0" err="1">
                <a:solidFill>
                  <a:schemeClr val="tx1"/>
                </a:solidFill>
                <a:effectLst/>
                <a:latin typeface="+mn-lt"/>
                <a:ea typeface="+mn-ea"/>
                <a:cs typeface="+mn-cs"/>
              </a:rPr>
              <a:t>θ</a:t>
            </a:r>
            <a:r>
              <a:rPr lang="en-US" dirty="0"/>
              <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Start from the integral form of J(</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then differentiate both sides with respect to </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Under standard regularity conditions, we can move the gradient inside the integral because we differentiate with respect to </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not </a:t>
            </a:r>
            <a:r>
              <a:rPr lang="en-US" sz="1200" kern="1200" dirty="0" err="1">
                <a:solidFill>
                  <a:schemeClr val="tx1"/>
                </a:solidFill>
                <a:effectLst/>
                <a:latin typeface="+mn-lt"/>
                <a:ea typeface="+mn-ea"/>
                <a:cs typeface="+mn-cs"/>
              </a:rPr>
              <a:t>τ</a:t>
            </a:r>
            <a:r>
              <a:rPr lang="en-US" sz="1200" kern="1200" dirty="0">
                <a:solidFill>
                  <a:schemeClr val="tx1"/>
                </a:solidFill>
                <a:effectLst/>
                <a:latin typeface="+mn-lt"/>
                <a:ea typeface="+mn-ea"/>
                <a:cs typeface="+mn-cs"/>
              </a:rPr>
              <a:t>. After this step, R(</a:t>
            </a:r>
            <a:r>
              <a:rPr lang="en-US" sz="1200" kern="1200" dirty="0" err="1">
                <a:solidFill>
                  <a:schemeClr val="tx1"/>
                </a:solidFill>
                <a:effectLst/>
                <a:latin typeface="+mn-lt"/>
                <a:ea typeface="+mn-ea"/>
                <a:cs typeface="+mn-cs"/>
              </a:rPr>
              <a:t>τ</a:t>
            </a:r>
            <a:r>
              <a:rPr lang="en-US" sz="1200" kern="1200" dirty="0">
                <a:solidFill>
                  <a:schemeClr val="tx1"/>
                </a:solidFill>
                <a:effectLst/>
                <a:latin typeface="+mn-lt"/>
                <a:ea typeface="+mn-ea"/>
                <a:cs typeface="+mn-cs"/>
              </a:rPr>
              <a:t>) stays as it is, and the gradient acts only on p(</a:t>
            </a:r>
            <a:r>
              <a:rPr lang="en-US" sz="1200" kern="1200" dirty="0" err="1">
                <a:solidFill>
                  <a:schemeClr val="tx1"/>
                </a:solidFill>
                <a:effectLst/>
                <a:latin typeface="+mn-lt"/>
                <a:ea typeface="+mn-ea"/>
                <a:cs typeface="+mn-cs"/>
              </a:rPr>
              <a:t>τ|θ</a:t>
            </a:r>
            <a:r>
              <a:rPr lang="en-US" sz="1200" kern="1200" dirty="0">
                <a:solidFill>
                  <a:schemeClr val="tx1"/>
                </a:solidFill>
                <a:effectLst/>
                <a:latin typeface="+mn-lt"/>
                <a:ea typeface="+mn-ea"/>
                <a:cs typeface="+mn-cs"/>
              </a:rPr>
              <a:t>), because the reward is just a number once the trajectory is fixed.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use the key identity behind REINFORCE: gradient of p equals p times gradient of log p. This follows directly from the derivative of the logarithm. Substituting that identity lets us factor p(</a:t>
            </a:r>
            <a:r>
              <a:rPr lang="en-US" sz="1200" kern="1200" dirty="0" err="1">
                <a:solidFill>
                  <a:schemeClr val="tx1"/>
                </a:solidFill>
                <a:effectLst/>
                <a:latin typeface="+mn-lt"/>
                <a:ea typeface="+mn-ea"/>
                <a:cs typeface="+mn-cs"/>
              </a:rPr>
              <a:t>τ|θ</a:t>
            </a:r>
            <a:r>
              <a:rPr lang="en-US" sz="1200" kern="1200" dirty="0">
                <a:solidFill>
                  <a:schemeClr val="tx1"/>
                </a:solidFill>
                <a:effectLst/>
                <a:latin typeface="+mn-lt"/>
                <a:ea typeface="+mn-ea"/>
                <a:cs typeface="+mn-cs"/>
              </a:rPr>
              <a:t>) back into the integral. That is the crucial move, because once p(</a:t>
            </a:r>
            <a:r>
              <a:rPr lang="en-US" sz="1200" kern="1200" dirty="0" err="1">
                <a:solidFill>
                  <a:schemeClr val="tx1"/>
                </a:solidFill>
                <a:effectLst/>
                <a:latin typeface="+mn-lt"/>
                <a:ea typeface="+mn-ea"/>
                <a:cs typeface="+mn-cs"/>
              </a:rPr>
              <a:t>τ|θ</a:t>
            </a:r>
            <a:r>
              <a:rPr lang="en-US" sz="1200" kern="1200" dirty="0">
                <a:solidFill>
                  <a:schemeClr val="tx1"/>
                </a:solidFill>
                <a:effectLst/>
                <a:latin typeface="+mn-lt"/>
                <a:ea typeface="+mn-ea"/>
                <a:cs typeface="+mn-cs"/>
              </a:rPr>
              <a:t>) is back inside, the whole expression becomes an expectation again. So we convert a hard quantity, the gradient of an expectation, into an expectation we can estimate by sampling trajectories.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Next we expand p(</a:t>
            </a:r>
            <a:r>
              <a:rPr lang="en-US" sz="1200" kern="1200" dirty="0" err="1">
                <a:solidFill>
                  <a:schemeClr val="tx1"/>
                </a:solidFill>
                <a:effectLst/>
                <a:latin typeface="+mn-lt"/>
                <a:ea typeface="+mn-ea"/>
                <a:cs typeface="+mn-cs"/>
              </a:rPr>
              <a:t>τ|θ</a:t>
            </a:r>
            <a:r>
              <a:rPr lang="en-US" sz="1200" kern="1200" dirty="0">
                <a:solidFill>
                  <a:schemeClr val="tx1"/>
                </a:solidFill>
                <a:effectLst/>
                <a:latin typeface="+mn-lt"/>
                <a:ea typeface="+mn-ea"/>
                <a:cs typeface="+mn-cs"/>
              </a:rPr>
              <a:t>). A trajectory probability is the product of three kinds of terms: the initial-state distribution, the policy probabilities for sampled actions, and the environment transition probabilities. When we take the log of that product, the log turns products into sums. Then we differentiate with respect to </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The initial-state distribution and the environment dynamics do not depend on </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so their gradients are zero. Only the policy terms remain. That is why policy gradients do not require a model of the environment.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After removing the terms that do not depend on </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we get the first practical formula: the gradient of J(</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is the expectation of the sum over time of gradient log π_</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a_t|s_t</a:t>
            </a:r>
            <a:r>
              <a:rPr lang="en-US" sz="1200" kern="1200" dirty="0">
                <a:solidFill>
                  <a:schemeClr val="tx1"/>
                </a:solidFill>
                <a:effectLst/>
                <a:latin typeface="+mn-lt"/>
                <a:ea typeface="+mn-ea"/>
                <a:cs typeface="+mn-cs"/>
              </a:rPr>
              <a:t>), multiplied by the total trajectory return R(</a:t>
            </a:r>
            <a:r>
              <a:rPr lang="en-US" sz="1200" kern="1200" dirty="0" err="1">
                <a:solidFill>
                  <a:schemeClr val="tx1"/>
                </a:solidFill>
                <a:effectLst/>
                <a:latin typeface="+mn-lt"/>
                <a:ea typeface="+mn-ea"/>
                <a:cs typeface="+mn-cs"/>
              </a:rPr>
              <a:t>τ</a:t>
            </a:r>
            <a:r>
              <a:rPr lang="en-US" sz="1200" kern="1200" dirty="0">
                <a:solidFill>
                  <a:schemeClr val="tx1"/>
                </a:solidFill>
                <a:effectLst/>
                <a:latin typeface="+mn-lt"/>
                <a:ea typeface="+mn-ea"/>
                <a:cs typeface="+mn-cs"/>
              </a:rPr>
              <a:t>). This already gives a usable algorithm. Sample trajectories, compute their returns, and increase the log-probability of actions that appeared in high-return trajectories. But this formula still has a credit-assignment problem, because an action at time t is being weighted by rewards that happened before time 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fix that, we replace the full trajectory return R(</a:t>
            </a:r>
            <a:r>
              <a:rPr lang="en-US" sz="1200" kern="1200" dirty="0" err="1">
                <a:solidFill>
                  <a:schemeClr val="tx1"/>
                </a:solidFill>
                <a:effectLst/>
                <a:latin typeface="+mn-lt"/>
                <a:ea typeface="+mn-ea"/>
                <a:cs typeface="+mn-cs"/>
              </a:rPr>
              <a:t>τ</a:t>
            </a:r>
            <a:r>
              <a:rPr lang="en-US" sz="1200" kern="1200" dirty="0">
                <a:solidFill>
                  <a:schemeClr val="tx1"/>
                </a:solidFill>
                <a:effectLst/>
                <a:latin typeface="+mn-lt"/>
                <a:ea typeface="+mn-ea"/>
                <a:cs typeface="+mn-cs"/>
              </a:rPr>
              <a:t>) with reward-to-go </a:t>
            </a:r>
            <a:r>
              <a:rPr lang="en-US" sz="1200" kern="1200" dirty="0" err="1">
                <a:solidFill>
                  <a:schemeClr val="tx1"/>
                </a:solidFill>
                <a:effectLst/>
                <a:latin typeface="+mn-lt"/>
                <a:ea typeface="+mn-ea"/>
                <a:cs typeface="+mn-cs"/>
              </a:rPr>
              <a:t>G_t</a:t>
            </a:r>
            <a:r>
              <a:rPr lang="en-US" sz="1200" kern="1200" dirty="0">
                <a:solidFill>
                  <a:schemeClr val="tx1"/>
                </a:solidFill>
                <a:effectLst/>
                <a:latin typeface="+mn-lt"/>
                <a:ea typeface="+mn-ea"/>
                <a:cs typeface="+mn-cs"/>
              </a:rPr>
              <a:t>, which is the discounted sum of rewards from time t onward. The logic is causality: an action at time t can influence future rewards, but it cannot influence past rewards. So the gradient term at time t should only be weighted by rewards from t onward. This gives the standard REINFORCE formula used in code: sum over time of gradient log π_</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a_t|s_t</a:t>
            </a:r>
            <a:r>
              <a:rPr lang="en-US" sz="1200" kern="1200" dirty="0">
                <a:solidFill>
                  <a:schemeClr val="tx1"/>
                </a:solidFill>
                <a:effectLst/>
                <a:latin typeface="+mn-lt"/>
                <a:ea typeface="+mn-ea"/>
                <a:cs typeface="+mn-cs"/>
              </a:rPr>
              <a:t>) times </a:t>
            </a:r>
            <a:r>
              <a:rPr lang="en-US" sz="1200" kern="1200" dirty="0" err="1">
                <a:solidFill>
                  <a:schemeClr val="tx1"/>
                </a:solidFill>
                <a:effectLst/>
                <a:latin typeface="+mn-lt"/>
                <a:ea typeface="+mn-ea"/>
                <a:cs typeface="+mn-cs"/>
              </a:rPr>
              <a:t>G_t</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formula is still an expectation, so we approximate it with Monte Carlo sampling. We run the current policy to collect N complete episodes. For each episode, we compute </a:t>
            </a:r>
            <a:r>
              <a:rPr lang="en-US" sz="1200" kern="1200" dirty="0" err="1">
                <a:solidFill>
                  <a:schemeClr val="tx1"/>
                </a:solidFill>
                <a:effectLst/>
                <a:latin typeface="+mn-lt"/>
                <a:ea typeface="+mn-ea"/>
                <a:cs typeface="+mn-cs"/>
              </a:rPr>
              <a:t>G_t</a:t>
            </a:r>
            <a:r>
              <a:rPr lang="en-US" sz="1200" kern="1200" dirty="0">
                <a:solidFill>
                  <a:schemeClr val="tx1"/>
                </a:solidFill>
                <a:effectLst/>
                <a:latin typeface="+mn-lt"/>
                <a:ea typeface="+mn-ea"/>
                <a:cs typeface="+mn-cs"/>
              </a:rPr>
              <a:t> at every time step. Then we average the per-time-step policy-gradient terms across the batch. This average is an unbiased estimate of the true gradient. It can be noisy, but on average it points in the correct direction, and that is enough for stochastic optimization.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math, we want to perform </a:t>
            </a:r>
            <a:r>
              <a:rPr lang="en-US" b="1" dirty="0"/>
              <a:t>gradient ascent</a:t>
            </a:r>
            <a:r>
              <a:rPr lang="en-US" dirty="0"/>
              <a:t> to maximize returns. However, </a:t>
            </a:r>
            <a:r>
              <a:rPr lang="en-US" dirty="0" err="1"/>
              <a:t>PyTorch</a:t>
            </a:r>
            <a:r>
              <a:rPr lang="en-US" dirty="0"/>
              <a:t> optimizers </a:t>
            </a:r>
            <a:r>
              <a:rPr lang="en-US" b="1" dirty="0"/>
              <a:t>minimize</a:t>
            </a:r>
            <a:r>
              <a:rPr lang="en-US" dirty="0"/>
              <a:t> loss via </a:t>
            </a:r>
            <a:r>
              <a:rPr lang="en-US" b="1" dirty="0"/>
              <a:t>gradient descent</a:t>
            </a:r>
            <a:r>
              <a:rPr lang="en-US" dirty="0"/>
              <a:t>. Therefore, we define our loss as the </a:t>
            </a:r>
            <a:r>
              <a:rPr lang="en-US" b="1" dirty="0"/>
              <a:t>negative</a:t>
            </a:r>
            <a:r>
              <a:rPr lang="en-US" dirty="0"/>
              <a:t> of the REINFORCE objective. This is why the code contains a minus sign in front of </a:t>
            </a:r>
            <a:r>
              <a:rPr lang="en-US" b="1" dirty="0"/>
              <a:t>log-prob</a:t>
            </a:r>
            <a:r>
              <a:rPr lang="en-US" dirty="0"/>
              <a:t> times </a:t>
            </a:r>
            <a:r>
              <a:rPr lang="en-US" b="1" dirty="0"/>
              <a:t>G-t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reading code line by line, it helps to see the flow. The policy network takes a state and outputs action probabilities. A categorical distribution samples an action from those probabilities. During rollout, the code stores two things at each step: log π_</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a_t|s_t</a:t>
            </a:r>
            <a:r>
              <a:rPr lang="en-US" sz="1200" kern="1200" dirty="0">
                <a:solidFill>
                  <a:schemeClr val="tx1"/>
                </a:solidFill>
                <a:effectLst/>
                <a:latin typeface="+mn-lt"/>
                <a:ea typeface="+mn-ea"/>
                <a:cs typeface="+mn-cs"/>
              </a:rPr>
              <a:t>) and reward </a:t>
            </a:r>
            <a:r>
              <a:rPr lang="en-US" sz="1200" kern="1200" dirty="0" err="1">
                <a:solidFill>
                  <a:schemeClr val="tx1"/>
                </a:solidFill>
                <a:effectLst/>
                <a:latin typeface="+mn-lt"/>
                <a:ea typeface="+mn-ea"/>
                <a:cs typeface="+mn-cs"/>
              </a:rPr>
              <a:t>r_t</a:t>
            </a:r>
            <a:r>
              <a:rPr lang="en-US" sz="1200" kern="1200" dirty="0">
                <a:solidFill>
                  <a:schemeClr val="tx1"/>
                </a:solidFill>
                <a:effectLst/>
                <a:latin typeface="+mn-lt"/>
                <a:ea typeface="+mn-ea"/>
                <a:cs typeface="+mn-cs"/>
              </a:rPr>
              <a:t>. After the episode ends, the trainer computes reward-to-go values </a:t>
            </a:r>
            <a:r>
              <a:rPr lang="en-US" sz="1200" kern="1200" dirty="0" err="1">
                <a:solidFill>
                  <a:schemeClr val="tx1"/>
                </a:solidFill>
                <a:effectLst/>
                <a:latin typeface="+mn-lt"/>
                <a:ea typeface="+mn-ea"/>
                <a:cs typeface="+mn-cs"/>
              </a:rPr>
              <a:t>G_t</a:t>
            </a:r>
            <a:r>
              <a:rPr lang="en-US" sz="1200" kern="1200" dirty="0">
                <a:solidFill>
                  <a:schemeClr val="tx1"/>
                </a:solidFill>
                <a:effectLst/>
                <a:latin typeface="+mn-lt"/>
                <a:ea typeface="+mn-ea"/>
                <a:cs typeface="+mn-cs"/>
              </a:rPr>
              <a:t>, builds the REINFORCE loss, calls backward, and updates </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 with the optimizer</a:t>
            </a:r>
            <a:r>
              <a:rPr lang="en-US"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look at episode collection. The environment is reset to get the initial state. The state is converted to a tensor and passed through the policy network to get probabilities over actions. The line </a:t>
            </a:r>
            <a:r>
              <a:rPr lang="en-US" sz="1200" kern="1200" dirty="0" err="1">
                <a:solidFill>
                  <a:schemeClr val="tx1"/>
                </a:solidFill>
                <a:effectLst/>
                <a:latin typeface="+mn-lt"/>
                <a:ea typeface="+mn-ea"/>
                <a:cs typeface="+mn-cs"/>
              </a:rPr>
              <a:t>dist</a:t>
            </a:r>
            <a:r>
              <a:rPr lang="en-US" sz="1200" kern="1200" dirty="0">
                <a:solidFill>
                  <a:schemeClr val="tx1"/>
                </a:solidFill>
                <a:effectLst/>
                <a:latin typeface="+mn-lt"/>
                <a:ea typeface="+mn-ea"/>
                <a:cs typeface="+mn-cs"/>
              </a:rPr>
              <a:t> = Categorical(probs) represents the stochastic policy, and </a:t>
            </a:r>
            <a:r>
              <a:rPr lang="en-US" sz="1200" kern="1200" dirty="0" err="1">
                <a:solidFill>
                  <a:schemeClr val="tx1"/>
                </a:solidFill>
                <a:effectLst/>
                <a:latin typeface="+mn-lt"/>
                <a:ea typeface="+mn-ea"/>
                <a:cs typeface="+mn-cs"/>
              </a:rPr>
              <a:t>dist.sample</a:t>
            </a:r>
            <a:r>
              <a:rPr lang="en-US" sz="1200" kern="1200" dirty="0">
                <a:solidFill>
                  <a:schemeClr val="tx1"/>
                </a:solidFill>
                <a:effectLst/>
                <a:latin typeface="+mn-lt"/>
                <a:ea typeface="+mn-ea"/>
                <a:cs typeface="+mn-cs"/>
              </a:rPr>
              <a:t>() implements </a:t>
            </a:r>
            <a:r>
              <a:rPr lang="en-US" sz="1200" kern="1200" dirty="0" err="1">
                <a:solidFill>
                  <a:schemeClr val="tx1"/>
                </a:solidFill>
                <a:effectLst/>
                <a:latin typeface="+mn-lt"/>
                <a:ea typeface="+mn-ea"/>
                <a:cs typeface="+mn-cs"/>
              </a:rPr>
              <a:t>a_t</a:t>
            </a:r>
            <a:r>
              <a:rPr lang="en-US" sz="1200" kern="1200" dirty="0">
                <a:solidFill>
                  <a:schemeClr val="tx1"/>
                </a:solidFill>
                <a:effectLst/>
                <a:latin typeface="+mn-lt"/>
                <a:ea typeface="+mn-ea"/>
                <a:cs typeface="+mn-cs"/>
              </a:rPr>
              <a:t> sampled from π_</a:t>
            </a:r>
            <a:r>
              <a:rPr lang="en-US" sz="1200" kern="1200" dirty="0" err="1">
                <a:solidFill>
                  <a:schemeClr val="tx1"/>
                </a:solidFill>
                <a:effectLst/>
                <a:latin typeface="+mn-lt"/>
                <a:ea typeface="+mn-ea"/>
                <a:cs typeface="+mn-cs"/>
              </a:rPr>
              <a:t>θ</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s_t</a:t>
            </a:r>
            <a:r>
              <a:rPr lang="en-US" sz="1200" kern="1200" dirty="0">
                <a:solidFill>
                  <a:schemeClr val="tx1"/>
                </a:solidFill>
                <a:effectLst/>
                <a:latin typeface="+mn-lt"/>
                <a:ea typeface="+mn-ea"/>
                <a:cs typeface="+mn-cs"/>
              </a:rPr>
              <a:t>). After stepping the environment, the code stores </a:t>
            </a:r>
            <a:r>
              <a:rPr lang="en-US" sz="1200" kern="1200" dirty="0" err="1">
                <a:solidFill>
                  <a:schemeClr val="tx1"/>
                </a:solidFill>
                <a:effectLst/>
                <a:latin typeface="+mn-lt"/>
                <a:ea typeface="+mn-ea"/>
                <a:cs typeface="+mn-cs"/>
              </a:rPr>
              <a:t>dist.log_prob</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a_t</a:t>
            </a:r>
            <a:r>
              <a:rPr lang="en-US" sz="1200" kern="1200" dirty="0">
                <a:solidFill>
                  <a:schemeClr val="tx1"/>
                </a:solidFill>
                <a:effectLst/>
                <a:latin typeface="+mn-lt"/>
                <a:ea typeface="+mn-ea"/>
                <a:cs typeface="+mn-cs"/>
              </a:rPr>
              <a:t>) and the reward. That pair is exactly what the derivation says we need later for the REINFORCE update.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Inside </a:t>
            </a:r>
            <a:r>
              <a:rPr lang="en-US" sz="1200" kern="1200" dirty="0" err="1">
                <a:solidFill>
                  <a:schemeClr val="tx1"/>
                </a:solidFill>
                <a:effectLst/>
                <a:latin typeface="+mn-lt"/>
                <a:ea typeface="+mn-ea"/>
                <a:cs typeface="+mn-cs"/>
              </a:rPr>
              <a:t>trainer.step</a:t>
            </a:r>
            <a:r>
              <a:rPr lang="en-US" sz="1200" kern="1200" dirty="0">
                <a:solidFill>
                  <a:schemeClr val="tx1"/>
                </a:solidFill>
                <a:effectLst/>
                <a:latin typeface="+mn-lt"/>
                <a:ea typeface="+mn-ea"/>
                <a:cs typeface="+mn-cs"/>
              </a:rPr>
              <a:t>, the code loops over each episode in the batch. It computes reward-to-go by scanning rewards backward with the recursion </a:t>
            </a:r>
            <a:r>
              <a:rPr lang="en-US" sz="1200" kern="1200" dirty="0" err="1">
                <a:solidFill>
                  <a:schemeClr val="tx1"/>
                </a:solidFill>
                <a:effectLst/>
                <a:latin typeface="+mn-lt"/>
                <a:ea typeface="+mn-ea"/>
                <a:cs typeface="+mn-cs"/>
              </a:rPr>
              <a:t>G_t</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r_t</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γ</a:t>
            </a:r>
            <a:r>
              <a:rPr lang="en-US" sz="1200" kern="1200" dirty="0">
                <a:solidFill>
                  <a:schemeClr val="tx1"/>
                </a:solidFill>
                <a:effectLst/>
                <a:latin typeface="+mn-lt"/>
                <a:ea typeface="+mn-ea"/>
                <a:cs typeface="+mn-cs"/>
              </a:rPr>
              <a:t> G_{t+1}. Then it pairs each stored log-probability with the matching </a:t>
            </a:r>
            <a:r>
              <a:rPr lang="en-US" sz="1200" kern="1200" dirty="0" err="1">
                <a:solidFill>
                  <a:schemeClr val="tx1"/>
                </a:solidFill>
                <a:effectLst/>
                <a:latin typeface="+mn-lt"/>
                <a:ea typeface="+mn-ea"/>
                <a:cs typeface="+mn-cs"/>
              </a:rPr>
              <a:t>G_t</a:t>
            </a:r>
            <a:r>
              <a:rPr lang="en-US" sz="1200" kern="1200" dirty="0">
                <a:solidFill>
                  <a:schemeClr val="tx1"/>
                </a:solidFill>
                <a:effectLst/>
                <a:latin typeface="+mn-lt"/>
                <a:ea typeface="+mn-ea"/>
                <a:cs typeface="+mn-cs"/>
              </a:rPr>
              <a:t> and adds the term negative log-probability times </a:t>
            </a:r>
            <a:r>
              <a:rPr lang="en-US" sz="1200" kern="1200" dirty="0" err="1">
                <a:solidFill>
                  <a:schemeClr val="tx1"/>
                </a:solidFill>
                <a:effectLst/>
                <a:latin typeface="+mn-lt"/>
                <a:ea typeface="+mn-ea"/>
                <a:cs typeface="+mn-cs"/>
              </a:rPr>
              <a:t>G_t</a:t>
            </a:r>
            <a:r>
              <a:rPr lang="en-US" sz="1200" kern="1200" dirty="0">
                <a:solidFill>
                  <a:schemeClr val="tx1"/>
                </a:solidFill>
                <a:effectLst/>
                <a:latin typeface="+mn-lt"/>
                <a:ea typeface="+mn-ea"/>
                <a:cs typeface="+mn-cs"/>
              </a:rPr>
              <a:t> to the loss. After summing over all time steps and all episodes, the code divides by N, the number of episodes, to form the Monte Carlo batch estimate. Then </a:t>
            </a:r>
            <a:r>
              <a:rPr lang="en-US" sz="1200" kern="1200" dirty="0" err="1">
                <a:solidFill>
                  <a:schemeClr val="tx1"/>
                </a:solidFill>
                <a:effectLst/>
                <a:latin typeface="+mn-lt"/>
                <a:ea typeface="+mn-ea"/>
                <a:cs typeface="+mn-cs"/>
              </a:rPr>
              <a:t>loss.backward</a:t>
            </a:r>
            <a:r>
              <a:rPr lang="en-US" sz="1200" kern="1200" dirty="0">
                <a:solidFill>
                  <a:schemeClr val="tx1"/>
                </a:solidFill>
                <a:effectLst/>
                <a:latin typeface="+mn-lt"/>
                <a:ea typeface="+mn-ea"/>
                <a:cs typeface="+mn-cs"/>
              </a:rPr>
              <a:t>() computes the gradient, and </a:t>
            </a:r>
            <a:r>
              <a:rPr lang="en-US" sz="1200" kern="1200" dirty="0" err="1">
                <a:solidFill>
                  <a:schemeClr val="tx1"/>
                </a:solidFill>
                <a:effectLst/>
                <a:latin typeface="+mn-lt"/>
                <a:ea typeface="+mn-ea"/>
                <a:cs typeface="+mn-cs"/>
              </a:rPr>
              <a:t>optimizer.step</a:t>
            </a:r>
            <a:r>
              <a:rPr lang="en-US" sz="1200" kern="1200" dirty="0">
                <a:solidFill>
                  <a:schemeClr val="tx1"/>
                </a:solidFill>
                <a:effectLst/>
                <a:latin typeface="+mn-lt"/>
                <a:ea typeface="+mn-ea"/>
                <a:cs typeface="+mn-cs"/>
              </a:rPr>
              <a:t>() updates the policy parameters.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640080" y="822960"/>
            <a:ext cx="7772400" cy="457200"/>
          </a:xfrm>
          <a:prstGeom prst="rect">
            <a:avLst/>
          </a:prstGeom>
          <a:noFill/>
          <a:ln/>
        </p:spPr>
        <p:txBody>
          <a:bodyPr wrap="square" rtlCol="0" anchor="ctr"/>
          <a:lstStyle/>
          <a:p>
            <a:pPr marL="0" indent="0">
              <a:buNone/>
            </a:pPr>
            <a:r>
              <a:rPr lang="en-US" sz="2800" b="1" dirty="0">
                <a:solidFill>
                  <a:srgbClr val="0F172A"/>
                </a:solidFill>
              </a:rPr>
              <a:t>REINFORCE, step by step</a:t>
            </a:r>
            <a:endParaRPr lang="en-US" sz="2800" dirty="0"/>
          </a:p>
        </p:txBody>
      </p:sp>
      <p:sp>
        <p:nvSpPr>
          <p:cNvPr id="5" name="Text 3"/>
          <p:cNvSpPr/>
          <p:nvPr/>
        </p:nvSpPr>
        <p:spPr>
          <a:xfrm>
            <a:off x="658368" y="1298448"/>
            <a:ext cx="8961120" cy="292608"/>
          </a:xfrm>
          <a:prstGeom prst="rect">
            <a:avLst/>
          </a:prstGeom>
          <a:noFill/>
          <a:ln/>
        </p:spPr>
        <p:txBody>
          <a:bodyPr wrap="square" rtlCol="0" anchor="ctr"/>
          <a:lstStyle/>
          <a:p>
            <a:pPr marL="0" indent="0">
              <a:buNone/>
            </a:pPr>
            <a:r>
              <a:rPr lang="en-US" sz="1800" dirty="0">
                <a:solidFill>
                  <a:srgbClr val="475569"/>
                </a:solidFill>
              </a:rPr>
              <a:t>A logic-first lecture on the derivation and the PyTorch implementation</a:t>
            </a:r>
            <a:endParaRPr lang="en-US" sz="1800" dirty="0"/>
          </a:p>
        </p:txBody>
      </p:sp>
      <p:sp>
        <p:nvSpPr>
          <p:cNvPr id="6" name="Text 4"/>
          <p:cNvSpPr/>
          <p:nvPr/>
        </p:nvSpPr>
        <p:spPr>
          <a:xfrm>
            <a:off x="868680" y="1828800"/>
            <a:ext cx="6766560" cy="1609344"/>
          </a:xfrm>
          <a:prstGeom prst="rect">
            <a:avLst/>
          </a:prstGeom>
          <a:noFill/>
          <a:ln/>
        </p:spPr>
        <p:txBody>
          <a:bodyPr wrap="square" lIns="254" tIns="254" rIns="254" bIns="254" rtlCol="0" anchor="t"/>
          <a:lstStyle/>
          <a:p>
            <a:pPr marL="177800" indent="-177800">
              <a:buSzPct val="100000"/>
              <a:buChar char="•"/>
            </a:pPr>
            <a:r>
              <a:rPr lang="en-US" sz="1900" dirty="0">
                <a:solidFill>
                  <a:srgbClr val="0F172A"/>
                </a:solidFill>
              </a:rPr>
              <a:t>Goal: explain every mathematical step clearly enough for a beginner.</a:t>
            </a:r>
            <a:endParaRPr lang="en-US" sz="1900" dirty="0"/>
          </a:p>
          <a:p>
            <a:pPr marL="177800" indent="-177800">
              <a:buSzPct val="100000"/>
              <a:buChar char="•"/>
            </a:pPr>
            <a:r>
              <a:rPr lang="en-US" sz="1900" dirty="0">
                <a:solidFill>
                  <a:srgbClr val="0F172A"/>
                </a:solidFill>
              </a:rPr>
              <a:t>Main message: REINFORCE is the foundation of policy gradient methods.</a:t>
            </a:r>
            <a:endParaRPr lang="en-US" sz="1900" dirty="0"/>
          </a:p>
          <a:p>
            <a:pPr marL="177800" indent="-177800">
              <a:buSzPct val="100000"/>
              <a:buChar char="•"/>
            </a:pPr>
            <a:r>
              <a:rPr lang="en-US" sz="1900" dirty="0">
                <a:solidFill>
                  <a:srgbClr val="0F172A"/>
                </a:solidFill>
              </a:rPr>
              <a:t>We will connect each math object to the exact PyTorch lines that implement it.</a:t>
            </a:r>
            <a:endParaRPr lang="en-US" sz="1900" dirty="0"/>
          </a:p>
        </p:txBody>
      </p:sp>
      <p:sp>
        <p:nvSpPr>
          <p:cNvPr id="7" name="Shape 5"/>
          <p:cNvSpPr/>
          <p:nvPr/>
        </p:nvSpPr>
        <p:spPr>
          <a:xfrm>
            <a:off x="7818120" y="1645920"/>
            <a:ext cx="3246120" cy="960120"/>
          </a:xfrm>
          <a:prstGeom prst="roundRect">
            <a:avLst>
              <a:gd name="adj" fmla="val 5714"/>
            </a:avLst>
          </a:prstGeom>
          <a:solidFill>
            <a:srgbClr val="FEFCE8"/>
          </a:solidFill>
          <a:ln w="12700">
            <a:solidFill>
              <a:srgbClr val="CBD5E1"/>
            </a:solidFill>
            <a:prstDash val="solid"/>
          </a:ln>
        </p:spPr>
        <p:txBody>
          <a:bodyPr/>
          <a:lstStyle/>
          <a:p>
            <a:endParaRPr lang="en-US"/>
          </a:p>
        </p:txBody>
      </p:sp>
      <p:sp>
        <p:nvSpPr>
          <p:cNvPr id="8" name="Text 6"/>
          <p:cNvSpPr/>
          <p:nvPr/>
        </p:nvSpPr>
        <p:spPr>
          <a:xfrm>
            <a:off x="7982712" y="1755648"/>
            <a:ext cx="2916936" cy="219456"/>
          </a:xfrm>
          <a:prstGeom prst="rect">
            <a:avLst/>
          </a:prstGeom>
          <a:noFill/>
          <a:ln/>
        </p:spPr>
        <p:txBody>
          <a:bodyPr wrap="square" rtlCol="0" anchor="ctr"/>
          <a:lstStyle/>
          <a:p>
            <a:pPr marL="0" indent="0">
              <a:buNone/>
            </a:pPr>
            <a:r>
              <a:rPr lang="en-US" sz="1700" b="1" dirty="0">
                <a:solidFill>
                  <a:srgbClr val="1D4ED8"/>
                </a:solidFill>
              </a:rPr>
              <a:t>Core result</a:t>
            </a:r>
            <a:endParaRPr lang="en-US" sz="1700" dirty="0"/>
          </a:p>
        </p:txBody>
      </p:sp>
      <p:sp>
        <p:nvSpPr>
          <p:cNvPr id="9" name="Text 7"/>
          <p:cNvSpPr/>
          <p:nvPr/>
        </p:nvSpPr>
        <p:spPr>
          <a:xfrm>
            <a:off x="7982712" y="2048256"/>
            <a:ext cx="2916936" cy="256032"/>
          </a:xfrm>
          <a:prstGeom prst="rect">
            <a:avLst/>
          </a:prstGeom>
          <a:noFill/>
          <a:ln/>
        </p:spPr>
        <p:txBody>
          <a:bodyPr wrap="square" lIns="0" tIns="0" rIns="0" bIns="0" rtlCol="0" anchor="ctr"/>
          <a:lstStyle/>
          <a:p>
            <a:pPr marL="0" indent="0" algn="ctr">
              <a:buNone/>
            </a:pPr>
            <a:r>
              <a:rPr lang="en-US" sz="1900" dirty="0">
                <a:solidFill>
                  <a:srgbClr val="0F172A"/>
                </a:solidFill>
              </a:rPr>
              <a:t>∇θ J(θ) = Eτ [ Σt ∇θ log πθ(at|st) · Gt ]</a:t>
            </a:r>
            <a:endParaRPr lang="en-US" sz="1900" dirty="0"/>
          </a:p>
        </p:txBody>
      </p:sp>
      <p:sp>
        <p:nvSpPr>
          <p:cNvPr id="10" name="Text 8"/>
          <p:cNvSpPr/>
          <p:nvPr/>
        </p:nvSpPr>
        <p:spPr>
          <a:xfrm>
            <a:off x="7863840" y="3246120"/>
            <a:ext cx="2286000" cy="228600"/>
          </a:xfrm>
          <a:prstGeom prst="rect">
            <a:avLst/>
          </a:prstGeom>
          <a:noFill/>
          <a:ln/>
        </p:spPr>
        <p:txBody>
          <a:bodyPr wrap="square" rtlCol="0" anchor="ctr"/>
          <a:lstStyle/>
          <a:p>
            <a:pPr marL="0" indent="0">
              <a:buNone/>
            </a:pPr>
            <a:r>
              <a:rPr lang="en-US" sz="1800" b="1" dirty="0">
                <a:solidFill>
                  <a:srgbClr val="1D4ED8"/>
                </a:solidFill>
              </a:rPr>
              <a:t>Roadmap</a:t>
            </a:r>
            <a:endParaRPr lang="en-US" sz="1800" dirty="0"/>
          </a:p>
        </p:txBody>
      </p:sp>
      <p:sp>
        <p:nvSpPr>
          <p:cNvPr id="11" name="Text 9"/>
          <p:cNvSpPr/>
          <p:nvPr/>
        </p:nvSpPr>
        <p:spPr>
          <a:xfrm>
            <a:off x="7882128" y="3566160"/>
            <a:ext cx="2834640" cy="2596896"/>
          </a:xfrm>
          <a:prstGeom prst="rect">
            <a:avLst/>
          </a:prstGeom>
          <a:noFill/>
          <a:ln/>
        </p:spPr>
        <p:txBody>
          <a:bodyPr wrap="square" lIns="254" tIns="254" rIns="254" bIns="254" rtlCol="0" anchor="t"/>
          <a:lstStyle/>
          <a:p>
            <a:pPr marL="177800" indent="-177800">
              <a:buSzPct val="100000"/>
              <a:buChar char="•"/>
            </a:pPr>
            <a:r>
              <a:rPr lang="en-US" sz="1550" dirty="0">
                <a:solidFill>
                  <a:srgbClr val="0F172A"/>
                </a:solidFill>
              </a:rPr>
              <a:t>1. RL setup and objective</a:t>
            </a:r>
            <a:endParaRPr lang="en-US" sz="1550" dirty="0"/>
          </a:p>
          <a:p>
            <a:pPr marL="177800" indent="-177800">
              <a:buSzPct val="100000"/>
              <a:buChar char="•"/>
            </a:pPr>
            <a:r>
              <a:rPr lang="en-US" sz="1550" dirty="0">
                <a:solidFill>
                  <a:srgbClr val="0F172A"/>
                </a:solidFill>
              </a:rPr>
              <a:t>2. Score-function trick</a:t>
            </a:r>
            <a:endParaRPr lang="en-US" sz="1550" dirty="0"/>
          </a:p>
          <a:p>
            <a:pPr marL="177800" indent="-177800">
              <a:buSzPct val="100000"/>
              <a:buChar char="•"/>
            </a:pPr>
            <a:r>
              <a:rPr lang="en-US" sz="1550" dirty="0">
                <a:solidFill>
                  <a:srgbClr val="0F172A"/>
                </a:solidFill>
              </a:rPr>
              <a:t>3. Trajectory factorization</a:t>
            </a:r>
            <a:endParaRPr lang="en-US" sz="1550" dirty="0"/>
          </a:p>
          <a:p>
            <a:pPr marL="177800" indent="-177800">
              <a:buSzPct val="100000"/>
              <a:buChar char="•"/>
            </a:pPr>
            <a:r>
              <a:rPr lang="en-US" sz="1550" dirty="0">
                <a:solidFill>
                  <a:srgbClr val="0F172A"/>
                </a:solidFill>
              </a:rPr>
              <a:t>4. Reward-to-go form</a:t>
            </a:r>
            <a:endParaRPr lang="en-US" sz="1550" dirty="0"/>
          </a:p>
          <a:p>
            <a:pPr marL="177800" indent="-177800">
              <a:buSzPct val="100000"/>
              <a:buChar char="•"/>
            </a:pPr>
            <a:r>
              <a:rPr lang="en-US" sz="1550" dirty="0">
                <a:solidFill>
                  <a:srgbClr val="0F172A"/>
                </a:solidFill>
              </a:rPr>
              <a:t>5. Monte Carlo estimate</a:t>
            </a:r>
            <a:endParaRPr lang="en-US" sz="1550" dirty="0"/>
          </a:p>
          <a:p>
            <a:pPr marL="177800" indent="-177800">
              <a:buSzPct val="100000"/>
              <a:buChar char="•"/>
            </a:pPr>
            <a:r>
              <a:rPr lang="en-US" sz="1550" dirty="0">
                <a:solidFill>
                  <a:srgbClr val="0F172A"/>
                </a:solidFill>
              </a:rPr>
              <a:t>6. PyTorch code walkthrough</a:t>
            </a:r>
            <a:endParaRPr lang="en-US" sz="1550" dirty="0"/>
          </a:p>
        </p:txBody>
      </p:sp>
      <p:pic>
        <p:nvPicPr>
          <p:cNvPr id="23" name="Audio 22">
            <a:extLst>
              <a:ext uri="{FF2B5EF4-FFF2-40B4-BE49-F238E27FC236}">
                <a16:creationId xmlns:a16="http://schemas.microsoft.com/office/drawing/2014/main" id="{9C1B1B65-748E-B8F5-E5B4-ACABCFF417D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40"/>
    </mc:Choice>
    <mc:Fallback>
      <p:transition spd="slow" advTm="38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1. Reinforcement learning setup</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What random variables do we have, and what is the quantity we want to optimize?</a:t>
            </a:r>
            <a:endParaRPr lang="en-US" sz="1350" dirty="0"/>
          </a:p>
        </p:txBody>
      </p:sp>
      <p:sp>
        <p:nvSpPr>
          <p:cNvPr id="6" name="Shape 4"/>
          <p:cNvSpPr/>
          <p:nvPr/>
        </p:nvSpPr>
        <p:spPr>
          <a:xfrm>
            <a:off x="640080" y="1280160"/>
            <a:ext cx="3657600" cy="1828800"/>
          </a:xfrm>
          <a:prstGeom prst="roundRect">
            <a:avLst>
              <a:gd name="adj" fmla="val 3000"/>
            </a:avLst>
          </a:prstGeom>
          <a:solidFill>
            <a:srgbClr val="EFF6FF"/>
          </a:solidFill>
          <a:ln w="12700">
            <a:solidFill>
              <a:srgbClr val="CBD5E1"/>
            </a:solidFill>
            <a:prstDash val="solid"/>
          </a:ln>
        </p:spPr>
        <p:txBody>
          <a:bodyPr/>
          <a:lstStyle/>
          <a:p>
            <a:endParaRPr lang="en-US"/>
          </a:p>
        </p:txBody>
      </p:sp>
      <p:sp>
        <p:nvSpPr>
          <p:cNvPr id="7" name="Text 5"/>
          <p:cNvSpPr/>
          <p:nvPr/>
        </p:nvSpPr>
        <p:spPr>
          <a:xfrm>
            <a:off x="804672" y="1389888"/>
            <a:ext cx="3328416" cy="219456"/>
          </a:xfrm>
          <a:prstGeom prst="rect">
            <a:avLst/>
          </a:prstGeom>
          <a:noFill/>
          <a:ln/>
        </p:spPr>
        <p:txBody>
          <a:bodyPr wrap="square" rtlCol="0" anchor="ctr"/>
          <a:lstStyle/>
          <a:p>
            <a:pPr marL="0" indent="0">
              <a:buNone/>
            </a:pPr>
            <a:r>
              <a:rPr lang="en-US" sz="1700" b="1" dirty="0">
                <a:solidFill>
                  <a:srgbClr val="1D4ED8"/>
                </a:solidFill>
              </a:rPr>
              <a:t>Episode dynamics</a:t>
            </a:r>
            <a:endParaRPr lang="en-US" sz="1700" dirty="0"/>
          </a:p>
        </p:txBody>
      </p:sp>
      <p:sp>
        <p:nvSpPr>
          <p:cNvPr id="8" name="Text 6"/>
          <p:cNvSpPr/>
          <p:nvPr/>
        </p:nvSpPr>
        <p:spPr>
          <a:xfrm>
            <a:off x="804672" y="1682496"/>
            <a:ext cx="3328416" cy="256032"/>
          </a:xfrm>
          <a:prstGeom prst="rect">
            <a:avLst/>
          </a:prstGeom>
          <a:noFill/>
          <a:ln/>
        </p:spPr>
        <p:txBody>
          <a:bodyPr wrap="square" lIns="0" tIns="0" rIns="0" bIns="0" rtlCol="0" anchor="ctr"/>
          <a:lstStyle/>
          <a:p>
            <a:pPr marL="0" indent="0" algn="ctr">
              <a:buNone/>
            </a:pPr>
            <a:r>
              <a:rPr lang="en-US" sz="1900" dirty="0">
                <a:solidFill>
                  <a:srgbClr val="0F172A"/>
                </a:solidFill>
              </a:rPr>
              <a:t>s0 ~ μ(s0)</a:t>
            </a:r>
            <a:endParaRPr lang="en-US" sz="1900" dirty="0"/>
          </a:p>
        </p:txBody>
      </p:sp>
      <p:sp>
        <p:nvSpPr>
          <p:cNvPr id="9" name="Text 7"/>
          <p:cNvSpPr/>
          <p:nvPr/>
        </p:nvSpPr>
        <p:spPr>
          <a:xfrm>
            <a:off x="804672" y="2029968"/>
            <a:ext cx="3328416" cy="256032"/>
          </a:xfrm>
          <a:prstGeom prst="rect">
            <a:avLst/>
          </a:prstGeom>
          <a:noFill/>
          <a:ln/>
        </p:spPr>
        <p:txBody>
          <a:bodyPr wrap="square" lIns="0" tIns="0" rIns="0" bIns="0" rtlCol="0" anchor="ctr"/>
          <a:lstStyle/>
          <a:p>
            <a:pPr marL="0" indent="0" algn="ctr">
              <a:buNone/>
            </a:pPr>
            <a:r>
              <a:rPr lang="en-US" sz="1900" dirty="0">
                <a:solidFill>
                  <a:srgbClr val="0F172A"/>
                </a:solidFill>
              </a:rPr>
              <a:t>at ~ πθ(at | st)</a:t>
            </a:r>
            <a:endParaRPr lang="en-US" sz="1900" dirty="0"/>
          </a:p>
        </p:txBody>
      </p:sp>
      <p:sp>
        <p:nvSpPr>
          <p:cNvPr id="10" name="Text 8"/>
          <p:cNvSpPr/>
          <p:nvPr/>
        </p:nvSpPr>
        <p:spPr>
          <a:xfrm>
            <a:off x="804672" y="2377440"/>
            <a:ext cx="3328416" cy="256032"/>
          </a:xfrm>
          <a:prstGeom prst="rect">
            <a:avLst/>
          </a:prstGeom>
          <a:noFill/>
          <a:ln/>
        </p:spPr>
        <p:txBody>
          <a:bodyPr wrap="square" lIns="0" tIns="0" rIns="0" bIns="0" rtlCol="0" anchor="ctr"/>
          <a:lstStyle/>
          <a:p>
            <a:pPr marL="0" indent="0" algn="ctr">
              <a:buNone/>
            </a:pPr>
            <a:r>
              <a:rPr lang="en-US" sz="1900" dirty="0">
                <a:solidFill>
                  <a:srgbClr val="0F172A"/>
                </a:solidFill>
              </a:rPr>
              <a:t>(st+1, rt) ~ P(st+1, rt | st, at)</a:t>
            </a:r>
            <a:endParaRPr lang="en-US" sz="1900" dirty="0"/>
          </a:p>
        </p:txBody>
      </p:sp>
      <p:sp>
        <p:nvSpPr>
          <p:cNvPr id="11" name="Shape 9"/>
          <p:cNvSpPr/>
          <p:nvPr/>
        </p:nvSpPr>
        <p:spPr>
          <a:xfrm>
            <a:off x="4526280" y="1280160"/>
            <a:ext cx="3383280" cy="868680"/>
          </a:xfrm>
          <a:prstGeom prst="roundRect">
            <a:avLst>
              <a:gd name="adj" fmla="val 6316"/>
            </a:avLst>
          </a:prstGeom>
          <a:solidFill>
            <a:srgbClr val="EFF6FF"/>
          </a:solidFill>
          <a:ln w="12700">
            <a:solidFill>
              <a:srgbClr val="CBD5E1"/>
            </a:solidFill>
            <a:prstDash val="solid"/>
          </a:ln>
        </p:spPr>
        <p:txBody>
          <a:bodyPr/>
          <a:lstStyle/>
          <a:p>
            <a:endParaRPr lang="en-US"/>
          </a:p>
        </p:txBody>
      </p:sp>
      <p:sp>
        <p:nvSpPr>
          <p:cNvPr id="12" name="Text 10"/>
          <p:cNvSpPr/>
          <p:nvPr/>
        </p:nvSpPr>
        <p:spPr>
          <a:xfrm>
            <a:off x="4690872" y="1389888"/>
            <a:ext cx="3054096" cy="219456"/>
          </a:xfrm>
          <a:prstGeom prst="rect">
            <a:avLst/>
          </a:prstGeom>
          <a:noFill/>
          <a:ln/>
        </p:spPr>
        <p:txBody>
          <a:bodyPr wrap="square" rtlCol="0" anchor="ctr"/>
          <a:lstStyle/>
          <a:p>
            <a:pPr marL="0" indent="0">
              <a:buNone/>
            </a:pPr>
            <a:r>
              <a:rPr lang="en-US" sz="1700" b="1" dirty="0">
                <a:solidFill>
                  <a:srgbClr val="1D4ED8"/>
                </a:solidFill>
              </a:rPr>
              <a:t>Trajectory</a:t>
            </a:r>
            <a:endParaRPr lang="en-US" sz="1700" dirty="0"/>
          </a:p>
        </p:txBody>
      </p:sp>
      <p:sp>
        <p:nvSpPr>
          <p:cNvPr id="13" name="Text 11"/>
          <p:cNvSpPr/>
          <p:nvPr/>
        </p:nvSpPr>
        <p:spPr>
          <a:xfrm>
            <a:off x="4690872" y="1682496"/>
            <a:ext cx="3054096" cy="256032"/>
          </a:xfrm>
          <a:prstGeom prst="rect">
            <a:avLst/>
          </a:prstGeom>
          <a:noFill/>
          <a:ln/>
        </p:spPr>
        <p:txBody>
          <a:bodyPr wrap="square" lIns="0" tIns="0" rIns="0" bIns="0" rtlCol="0" anchor="ctr"/>
          <a:lstStyle/>
          <a:p>
            <a:pPr marL="0" indent="0" algn="ctr">
              <a:buNone/>
            </a:pPr>
            <a:r>
              <a:rPr lang="en-US" sz="1900" dirty="0">
                <a:solidFill>
                  <a:srgbClr val="0F172A"/>
                </a:solidFill>
              </a:rPr>
              <a:t>τ = (s0, a0, r0, s1, a1, r1, …, sT)</a:t>
            </a:r>
            <a:endParaRPr lang="en-US" sz="1900" dirty="0"/>
          </a:p>
        </p:txBody>
      </p:sp>
      <p:sp>
        <p:nvSpPr>
          <p:cNvPr id="14" name="Shape 12"/>
          <p:cNvSpPr/>
          <p:nvPr/>
        </p:nvSpPr>
        <p:spPr>
          <a:xfrm>
            <a:off x="8138160" y="1280160"/>
            <a:ext cx="3383280" cy="868680"/>
          </a:xfrm>
          <a:prstGeom prst="roundRect">
            <a:avLst>
              <a:gd name="adj" fmla="val 6316"/>
            </a:avLst>
          </a:prstGeom>
          <a:solidFill>
            <a:srgbClr val="EFF6FF"/>
          </a:solidFill>
          <a:ln w="12700">
            <a:solidFill>
              <a:srgbClr val="CBD5E1"/>
            </a:solidFill>
            <a:prstDash val="solid"/>
          </a:ln>
        </p:spPr>
        <p:txBody>
          <a:bodyPr/>
          <a:lstStyle/>
          <a:p>
            <a:endParaRPr lang="en-US"/>
          </a:p>
        </p:txBody>
      </p:sp>
      <p:sp>
        <p:nvSpPr>
          <p:cNvPr id="15" name="Text 13"/>
          <p:cNvSpPr/>
          <p:nvPr/>
        </p:nvSpPr>
        <p:spPr>
          <a:xfrm>
            <a:off x="8302752" y="1389888"/>
            <a:ext cx="3054096" cy="219456"/>
          </a:xfrm>
          <a:prstGeom prst="rect">
            <a:avLst/>
          </a:prstGeom>
          <a:noFill/>
          <a:ln/>
        </p:spPr>
        <p:txBody>
          <a:bodyPr wrap="square" rtlCol="0" anchor="ctr"/>
          <a:lstStyle/>
          <a:p>
            <a:pPr marL="0" indent="0">
              <a:buNone/>
            </a:pPr>
            <a:r>
              <a:rPr lang="en-US" sz="1700" b="1" dirty="0">
                <a:solidFill>
                  <a:srgbClr val="1D4ED8"/>
                </a:solidFill>
              </a:rPr>
              <a:t>Return</a:t>
            </a:r>
            <a:endParaRPr lang="en-US" sz="1700" dirty="0"/>
          </a:p>
        </p:txBody>
      </p:sp>
      <p:sp>
        <p:nvSpPr>
          <p:cNvPr id="16" name="Text 14"/>
          <p:cNvSpPr/>
          <p:nvPr/>
        </p:nvSpPr>
        <p:spPr>
          <a:xfrm>
            <a:off x="8302752" y="1682496"/>
            <a:ext cx="3054096" cy="256032"/>
          </a:xfrm>
          <a:prstGeom prst="rect">
            <a:avLst/>
          </a:prstGeom>
          <a:noFill/>
          <a:ln/>
        </p:spPr>
        <p:txBody>
          <a:bodyPr wrap="square" lIns="0" tIns="0" rIns="0" bIns="0" rtlCol="0" anchor="ctr"/>
          <a:lstStyle/>
          <a:p>
            <a:pPr marL="0" indent="0" algn="ctr">
              <a:buNone/>
            </a:pPr>
            <a:r>
              <a:rPr lang="en-US" sz="1900" dirty="0">
                <a:solidFill>
                  <a:srgbClr val="0F172A"/>
                </a:solidFill>
              </a:rPr>
              <a:t>R(τ) = r0 + r1 + ⋯ + rT−1</a:t>
            </a:r>
            <a:endParaRPr lang="en-US" sz="1900" dirty="0"/>
          </a:p>
        </p:txBody>
      </p:sp>
      <p:sp>
        <p:nvSpPr>
          <p:cNvPr id="17" name="Text 15"/>
          <p:cNvSpPr/>
          <p:nvPr/>
        </p:nvSpPr>
        <p:spPr>
          <a:xfrm>
            <a:off x="822960" y="3337560"/>
            <a:ext cx="10607040" cy="1527048"/>
          </a:xfrm>
          <a:prstGeom prst="rect">
            <a:avLst/>
          </a:prstGeom>
          <a:noFill/>
          <a:ln/>
        </p:spPr>
        <p:txBody>
          <a:bodyPr wrap="square" lIns="254" tIns="254" rIns="254" bIns="254" rtlCol="0" anchor="t"/>
          <a:lstStyle/>
          <a:p>
            <a:pPr marL="177800" indent="-177800">
              <a:buSzPct val="100000"/>
              <a:buChar char="•"/>
            </a:pPr>
            <a:r>
              <a:rPr lang="en-US" sz="1800" dirty="0">
                <a:solidFill>
                  <a:srgbClr val="0F172A"/>
                </a:solidFill>
              </a:rPr>
              <a:t>The policy πθ is the only object we control. The environment dynamics P are fixed.</a:t>
            </a:r>
            <a:endParaRPr lang="en-US" sz="1800" dirty="0"/>
          </a:p>
          <a:p>
            <a:pPr marL="177800" indent="-177800">
              <a:buSzPct val="100000"/>
              <a:buChar char="•"/>
            </a:pPr>
            <a:r>
              <a:rPr lang="en-US" sz="1800" dirty="0">
                <a:solidFill>
                  <a:srgbClr val="0F172A"/>
                </a:solidFill>
              </a:rPr>
              <a:t>Changing θ changes the action probabilities, which changes the distribution over whole trajectories.</a:t>
            </a:r>
            <a:endParaRPr lang="en-US" sz="1800" dirty="0"/>
          </a:p>
          <a:p>
            <a:pPr marL="177800" indent="-177800">
              <a:buSzPct val="100000"/>
              <a:buChar char="•"/>
            </a:pPr>
            <a:r>
              <a:rPr lang="en-US" sz="1800" dirty="0">
                <a:solidFill>
                  <a:srgbClr val="0F172A"/>
                </a:solidFill>
              </a:rPr>
              <a:t>So our optimization problem is not over one action, but over the probability of entire trajectories.</a:t>
            </a:r>
            <a:endParaRPr lang="en-US" sz="1800" dirty="0"/>
          </a:p>
        </p:txBody>
      </p:sp>
      <p:sp>
        <p:nvSpPr>
          <p:cNvPr id="18" name="Shape 16"/>
          <p:cNvSpPr/>
          <p:nvPr/>
        </p:nvSpPr>
        <p:spPr>
          <a:xfrm>
            <a:off x="2926080" y="5440680"/>
            <a:ext cx="6400800" cy="822960"/>
          </a:xfrm>
          <a:prstGeom prst="roundRect">
            <a:avLst>
              <a:gd name="adj" fmla="val 6667"/>
            </a:avLst>
          </a:prstGeom>
          <a:solidFill>
            <a:srgbClr val="EEFDF3"/>
          </a:solidFill>
          <a:ln w="12700">
            <a:solidFill>
              <a:srgbClr val="CBD5E1"/>
            </a:solidFill>
            <a:prstDash val="solid"/>
          </a:ln>
        </p:spPr>
        <p:txBody>
          <a:bodyPr/>
          <a:lstStyle/>
          <a:p>
            <a:endParaRPr lang="en-US"/>
          </a:p>
        </p:txBody>
      </p:sp>
      <p:sp>
        <p:nvSpPr>
          <p:cNvPr id="19" name="Text 17"/>
          <p:cNvSpPr/>
          <p:nvPr/>
        </p:nvSpPr>
        <p:spPr>
          <a:xfrm>
            <a:off x="3090672" y="5550408"/>
            <a:ext cx="6071616" cy="219456"/>
          </a:xfrm>
          <a:prstGeom prst="rect">
            <a:avLst/>
          </a:prstGeom>
          <a:noFill/>
          <a:ln/>
        </p:spPr>
        <p:txBody>
          <a:bodyPr wrap="square" rtlCol="0" anchor="ctr"/>
          <a:lstStyle/>
          <a:p>
            <a:pPr marL="0" indent="0">
              <a:buNone/>
            </a:pPr>
            <a:r>
              <a:rPr lang="en-US" sz="1700" b="1" dirty="0">
                <a:solidFill>
                  <a:srgbClr val="1D4ED8"/>
                </a:solidFill>
              </a:rPr>
              <a:t>Objective</a:t>
            </a:r>
            <a:endParaRPr lang="en-US" sz="1700" dirty="0"/>
          </a:p>
        </p:txBody>
      </p:sp>
      <p:sp>
        <p:nvSpPr>
          <p:cNvPr id="20" name="Text 18"/>
          <p:cNvSpPr/>
          <p:nvPr/>
        </p:nvSpPr>
        <p:spPr>
          <a:xfrm>
            <a:off x="3090672" y="5843016"/>
            <a:ext cx="6071616" cy="256032"/>
          </a:xfrm>
          <a:prstGeom prst="rect">
            <a:avLst/>
          </a:prstGeom>
          <a:noFill/>
          <a:ln/>
        </p:spPr>
        <p:txBody>
          <a:bodyPr wrap="square" lIns="0" tIns="0" rIns="0" bIns="0" rtlCol="0" anchor="ctr"/>
          <a:lstStyle/>
          <a:p>
            <a:pPr marL="0" indent="0" algn="ctr">
              <a:buNone/>
            </a:pPr>
            <a:r>
              <a:rPr lang="en-US" sz="1900" dirty="0">
                <a:solidFill>
                  <a:srgbClr val="0F172A"/>
                </a:solidFill>
              </a:rPr>
              <a:t>J(θ) = Eτ~p(τ|θ) [ R(τ) ]</a:t>
            </a:r>
            <a:endParaRPr lang="en-US" sz="1900" dirty="0"/>
          </a:p>
        </p:txBody>
      </p:sp>
      <p:pic>
        <p:nvPicPr>
          <p:cNvPr id="24" name="Audio 23">
            <a:extLst>
              <a:ext uri="{FF2B5EF4-FFF2-40B4-BE49-F238E27FC236}">
                <a16:creationId xmlns:a16="http://schemas.microsoft.com/office/drawing/2014/main" id="{C95D1BFE-416F-8B39-2D79-556EE9B9AAE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40"/>
    </mc:Choice>
    <mc:Fallback>
      <p:transition spd="slow" advTm="37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2. Write the objective as an integral</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This makes clear what the expectation actually means.</a:t>
            </a:r>
            <a:endParaRPr lang="en-US" sz="1350" dirty="0"/>
          </a:p>
        </p:txBody>
      </p:sp>
      <p:sp>
        <p:nvSpPr>
          <p:cNvPr id="6" name="Shape 4"/>
          <p:cNvSpPr/>
          <p:nvPr/>
        </p:nvSpPr>
        <p:spPr>
          <a:xfrm>
            <a:off x="1874520" y="1417320"/>
            <a:ext cx="841248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7" name="Text 5"/>
          <p:cNvSpPr/>
          <p:nvPr/>
        </p:nvSpPr>
        <p:spPr>
          <a:xfrm>
            <a:off x="2039112" y="1527048"/>
            <a:ext cx="8083296" cy="219456"/>
          </a:xfrm>
          <a:prstGeom prst="rect">
            <a:avLst/>
          </a:prstGeom>
          <a:noFill/>
          <a:ln/>
        </p:spPr>
        <p:txBody>
          <a:bodyPr wrap="square" rtlCol="0" anchor="ctr"/>
          <a:lstStyle/>
          <a:p>
            <a:pPr marL="0" indent="0">
              <a:buNone/>
            </a:pPr>
            <a:r>
              <a:rPr lang="en-US" sz="1700" b="1" dirty="0">
                <a:solidFill>
                  <a:srgbClr val="1D4ED8"/>
                </a:solidFill>
              </a:rPr>
              <a:t>Expectation definition</a:t>
            </a:r>
            <a:endParaRPr lang="en-US" sz="1700" dirty="0"/>
          </a:p>
        </p:txBody>
      </p:sp>
      <p:sp>
        <p:nvSpPr>
          <p:cNvPr id="8" name="Text 6"/>
          <p:cNvSpPr/>
          <p:nvPr/>
        </p:nvSpPr>
        <p:spPr>
          <a:xfrm>
            <a:off x="2039112" y="1819656"/>
            <a:ext cx="8083296" cy="256032"/>
          </a:xfrm>
          <a:prstGeom prst="rect">
            <a:avLst/>
          </a:prstGeom>
          <a:noFill/>
          <a:ln/>
        </p:spPr>
        <p:txBody>
          <a:bodyPr wrap="square" lIns="0" tIns="0" rIns="0" bIns="0" rtlCol="0" anchor="ctr"/>
          <a:lstStyle/>
          <a:p>
            <a:pPr marL="0" indent="0" algn="ctr">
              <a:buNone/>
            </a:pPr>
            <a:r>
              <a:rPr lang="en-US" sz="1900" dirty="0">
                <a:solidFill>
                  <a:srgbClr val="0F172A"/>
                </a:solidFill>
              </a:rPr>
              <a:t>J(θ) = ∫ p(τ|θ) R(τ) dτ</a:t>
            </a:r>
            <a:endParaRPr lang="en-US" sz="1900" dirty="0"/>
          </a:p>
        </p:txBody>
      </p:sp>
      <p:sp>
        <p:nvSpPr>
          <p:cNvPr id="9" name="Text 7"/>
          <p:cNvSpPr/>
          <p:nvPr/>
        </p:nvSpPr>
        <p:spPr>
          <a:xfrm>
            <a:off x="914400" y="2743200"/>
            <a:ext cx="10424160" cy="2350008"/>
          </a:xfrm>
          <a:prstGeom prst="rect">
            <a:avLst/>
          </a:prstGeom>
          <a:noFill/>
          <a:ln/>
        </p:spPr>
        <p:txBody>
          <a:bodyPr wrap="square" lIns="254" tIns="254" rIns="254" bIns="254" rtlCol="0" anchor="t"/>
          <a:lstStyle/>
          <a:p>
            <a:pPr marL="177800" indent="-177800">
              <a:buSzPct val="100000"/>
              <a:buChar char="•"/>
            </a:pPr>
            <a:r>
              <a:rPr lang="en-US" sz="2100" dirty="0">
                <a:solidFill>
                  <a:srgbClr val="0F172A"/>
                </a:solidFill>
              </a:rPr>
              <a:t>τ is the random variable being averaged over.</a:t>
            </a:r>
            <a:endParaRPr lang="en-US" sz="2100" dirty="0"/>
          </a:p>
          <a:p>
            <a:pPr marL="177800" indent="-177800">
              <a:buSzPct val="100000"/>
              <a:buChar char="•"/>
            </a:pPr>
            <a:r>
              <a:rPr lang="en-US" sz="2100" dirty="0">
                <a:solidFill>
                  <a:srgbClr val="0F172A"/>
                </a:solidFill>
              </a:rPr>
              <a:t>R(τ) is the value attached to each possible trajectory.</a:t>
            </a:r>
            <a:endParaRPr lang="en-US" sz="2100" dirty="0"/>
          </a:p>
          <a:p>
            <a:pPr marL="177800" indent="-177800">
              <a:buSzPct val="100000"/>
              <a:buChar char="•"/>
            </a:pPr>
            <a:r>
              <a:rPr lang="en-US" sz="2100" dirty="0">
                <a:solidFill>
                  <a:srgbClr val="0F172A"/>
                </a:solidFill>
              </a:rPr>
              <a:t>p(τ|θ) is the weight of each trajectory, and those weights depend on θ.</a:t>
            </a:r>
            <a:endParaRPr lang="en-US" sz="2100" dirty="0"/>
          </a:p>
          <a:p>
            <a:pPr marL="177800" indent="-177800">
              <a:buSzPct val="100000"/>
              <a:buChar char="•"/>
            </a:pPr>
            <a:r>
              <a:rPr lang="en-US" sz="2100" dirty="0">
                <a:solidFill>
                  <a:srgbClr val="0F172A"/>
                </a:solidFill>
              </a:rPr>
              <a:t>Therefore, when we differentiate J(θ), we must differentiate the distribution p(τ|θ).</a:t>
            </a:r>
            <a:endParaRPr lang="en-US" sz="2100" dirty="0"/>
          </a:p>
        </p:txBody>
      </p:sp>
      <p:sp>
        <p:nvSpPr>
          <p:cNvPr id="10" name="Shape 8"/>
          <p:cNvSpPr/>
          <p:nvPr/>
        </p:nvSpPr>
        <p:spPr>
          <a:xfrm>
            <a:off x="2148840" y="5303520"/>
            <a:ext cx="7863840" cy="868680"/>
          </a:xfrm>
          <a:prstGeom prst="roundRect">
            <a:avLst>
              <a:gd name="adj" fmla="val 6316"/>
            </a:avLst>
          </a:prstGeom>
          <a:solidFill>
            <a:srgbClr val="FEF2F2"/>
          </a:solidFill>
          <a:ln w="12700">
            <a:solidFill>
              <a:srgbClr val="CBD5E1"/>
            </a:solidFill>
            <a:prstDash val="solid"/>
          </a:ln>
        </p:spPr>
        <p:txBody>
          <a:bodyPr/>
          <a:lstStyle/>
          <a:p>
            <a:endParaRPr lang="en-US"/>
          </a:p>
        </p:txBody>
      </p:sp>
      <p:sp>
        <p:nvSpPr>
          <p:cNvPr id="11" name="Text 9"/>
          <p:cNvSpPr/>
          <p:nvPr/>
        </p:nvSpPr>
        <p:spPr>
          <a:xfrm>
            <a:off x="2313432" y="5413248"/>
            <a:ext cx="7534656" cy="219456"/>
          </a:xfrm>
          <a:prstGeom prst="rect">
            <a:avLst/>
          </a:prstGeom>
          <a:noFill/>
          <a:ln/>
        </p:spPr>
        <p:txBody>
          <a:bodyPr wrap="square" rtlCol="0" anchor="ctr"/>
          <a:lstStyle/>
          <a:p>
            <a:pPr marL="0" indent="0">
              <a:buNone/>
            </a:pPr>
            <a:r>
              <a:rPr lang="en-US" sz="1700" b="1" dirty="0">
                <a:solidFill>
                  <a:srgbClr val="1D4ED8"/>
                </a:solidFill>
              </a:rPr>
              <a:t>Question for the rest of the derivation</a:t>
            </a:r>
            <a:endParaRPr lang="en-US" sz="1700" dirty="0"/>
          </a:p>
        </p:txBody>
      </p:sp>
      <p:sp>
        <p:nvSpPr>
          <p:cNvPr id="12" name="Text 10"/>
          <p:cNvSpPr/>
          <p:nvPr/>
        </p:nvSpPr>
        <p:spPr>
          <a:xfrm>
            <a:off x="2313432" y="5705856"/>
            <a:ext cx="7534656" cy="256032"/>
          </a:xfrm>
          <a:prstGeom prst="rect">
            <a:avLst/>
          </a:prstGeom>
          <a:noFill/>
          <a:ln/>
        </p:spPr>
        <p:txBody>
          <a:bodyPr wrap="square" lIns="0" tIns="0" rIns="0" bIns="0" rtlCol="0" anchor="ctr"/>
          <a:lstStyle/>
          <a:p>
            <a:pPr marL="0" indent="0" algn="ctr">
              <a:buNone/>
            </a:pPr>
            <a:r>
              <a:rPr lang="en-US" sz="1900" dirty="0">
                <a:solidFill>
                  <a:srgbClr val="0F172A"/>
                </a:solidFill>
              </a:rPr>
              <a:t>How do we compute  ∇θ ∫ p(τ|θ) R(τ) dτ ?</a:t>
            </a:r>
            <a:endParaRPr lang="en-US" sz="1900" dirty="0"/>
          </a:p>
        </p:txBody>
      </p:sp>
      <p:pic>
        <p:nvPicPr>
          <p:cNvPr id="16" name="Audio 15">
            <a:extLst>
              <a:ext uri="{FF2B5EF4-FFF2-40B4-BE49-F238E27FC236}">
                <a16:creationId xmlns:a16="http://schemas.microsoft.com/office/drawing/2014/main" id="{93A2BCE9-4545-0A23-C585-31AC99B5DC2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040"/>
    </mc:Choice>
    <mc:Fallback>
      <p:transition spd="slow" advTm="55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3. Move the gradient inside the expectation</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First algebraic step.</a:t>
            </a:r>
            <a:endParaRPr lang="en-US" sz="1350" dirty="0"/>
          </a:p>
        </p:txBody>
      </p:sp>
      <p:sp>
        <p:nvSpPr>
          <p:cNvPr id="6" name="Shape 4"/>
          <p:cNvSpPr/>
          <p:nvPr/>
        </p:nvSpPr>
        <p:spPr>
          <a:xfrm>
            <a:off x="914400" y="1325880"/>
            <a:ext cx="484632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7" name="Text 5"/>
          <p:cNvSpPr/>
          <p:nvPr/>
        </p:nvSpPr>
        <p:spPr>
          <a:xfrm>
            <a:off x="1078992" y="1435608"/>
            <a:ext cx="4517136" cy="219456"/>
          </a:xfrm>
          <a:prstGeom prst="rect">
            <a:avLst/>
          </a:prstGeom>
          <a:noFill/>
          <a:ln/>
        </p:spPr>
        <p:txBody>
          <a:bodyPr wrap="square" rtlCol="0" anchor="ctr"/>
          <a:lstStyle/>
          <a:p>
            <a:pPr marL="0" indent="0">
              <a:buNone/>
            </a:pPr>
            <a:r>
              <a:rPr lang="en-US" sz="1700" b="1" dirty="0">
                <a:solidFill>
                  <a:srgbClr val="1D4ED8"/>
                </a:solidFill>
              </a:rPr>
              <a:t>Start from the definition</a:t>
            </a:r>
            <a:endParaRPr lang="en-US" sz="1700" dirty="0"/>
          </a:p>
        </p:txBody>
      </p:sp>
      <p:sp>
        <p:nvSpPr>
          <p:cNvPr id="8" name="Text 6"/>
          <p:cNvSpPr/>
          <p:nvPr/>
        </p:nvSpPr>
        <p:spPr>
          <a:xfrm>
            <a:off x="1078992" y="1728216"/>
            <a:ext cx="4517136" cy="256032"/>
          </a:xfrm>
          <a:prstGeom prst="rect">
            <a:avLst/>
          </a:prstGeom>
          <a:noFill/>
          <a:ln/>
        </p:spPr>
        <p:txBody>
          <a:bodyPr wrap="square" lIns="0" tIns="0" rIns="0" bIns="0" rtlCol="0" anchor="ctr"/>
          <a:lstStyle/>
          <a:p>
            <a:pPr marL="0" indent="0" algn="ctr">
              <a:buNone/>
            </a:pPr>
            <a:r>
              <a:rPr lang="en-US" sz="1900" dirty="0">
                <a:solidFill>
                  <a:srgbClr val="0F172A"/>
                </a:solidFill>
              </a:rPr>
              <a:t>∇θ J(θ) = ∇θ ∫ p(τ|θ) R(τ) dτ</a:t>
            </a:r>
            <a:endParaRPr lang="en-US" sz="1900" dirty="0"/>
          </a:p>
        </p:txBody>
      </p:sp>
      <p:sp>
        <p:nvSpPr>
          <p:cNvPr id="9" name="Shape 7"/>
          <p:cNvSpPr/>
          <p:nvPr/>
        </p:nvSpPr>
        <p:spPr>
          <a:xfrm>
            <a:off x="6080760" y="1325880"/>
            <a:ext cx="512064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10" name="Text 8"/>
          <p:cNvSpPr/>
          <p:nvPr/>
        </p:nvSpPr>
        <p:spPr>
          <a:xfrm>
            <a:off x="6245352" y="1435608"/>
            <a:ext cx="4791456" cy="219456"/>
          </a:xfrm>
          <a:prstGeom prst="rect">
            <a:avLst/>
          </a:prstGeom>
          <a:noFill/>
          <a:ln/>
        </p:spPr>
        <p:txBody>
          <a:bodyPr wrap="square" rtlCol="0" anchor="ctr"/>
          <a:lstStyle/>
          <a:p>
            <a:pPr marL="0" indent="0">
              <a:buNone/>
            </a:pPr>
            <a:r>
              <a:rPr lang="en-US" sz="1700" b="1" dirty="0">
                <a:solidFill>
                  <a:srgbClr val="1D4ED8"/>
                </a:solidFill>
              </a:rPr>
              <a:t>R(τ) does not depend on θ</a:t>
            </a:r>
            <a:endParaRPr lang="en-US" sz="1700" dirty="0"/>
          </a:p>
        </p:txBody>
      </p:sp>
      <p:sp>
        <p:nvSpPr>
          <p:cNvPr id="11" name="Text 9"/>
          <p:cNvSpPr/>
          <p:nvPr/>
        </p:nvSpPr>
        <p:spPr>
          <a:xfrm>
            <a:off x="6245352" y="1728216"/>
            <a:ext cx="4791456" cy="256032"/>
          </a:xfrm>
          <a:prstGeom prst="rect">
            <a:avLst/>
          </a:prstGeom>
          <a:noFill/>
          <a:ln/>
        </p:spPr>
        <p:txBody>
          <a:bodyPr wrap="square" lIns="0" tIns="0" rIns="0" bIns="0" rtlCol="0" anchor="ctr"/>
          <a:lstStyle/>
          <a:p>
            <a:pPr marL="0" indent="0" algn="ctr">
              <a:buNone/>
            </a:pPr>
            <a:r>
              <a:rPr lang="en-US" sz="1900" dirty="0">
                <a:solidFill>
                  <a:srgbClr val="0F172A"/>
                </a:solidFill>
              </a:rPr>
              <a:t>∇θ J(θ) = ∫ R(τ) ∇θ p(τ|θ) dτ</a:t>
            </a:r>
            <a:endParaRPr lang="en-US" sz="1900" dirty="0"/>
          </a:p>
        </p:txBody>
      </p:sp>
      <p:sp>
        <p:nvSpPr>
          <p:cNvPr id="12" name="Text 10"/>
          <p:cNvSpPr/>
          <p:nvPr/>
        </p:nvSpPr>
        <p:spPr>
          <a:xfrm>
            <a:off x="822960" y="2743200"/>
            <a:ext cx="10698480" cy="1691640"/>
          </a:xfrm>
          <a:prstGeom prst="rect">
            <a:avLst/>
          </a:prstGeom>
          <a:noFill/>
          <a:ln/>
        </p:spPr>
        <p:txBody>
          <a:bodyPr wrap="square" lIns="254" tIns="254" rIns="254" bIns="254" rtlCol="0" anchor="t"/>
          <a:lstStyle/>
          <a:p>
            <a:pPr marL="177800" indent="-177800">
              <a:buSzPct val="100000"/>
              <a:buChar char="•"/>
            </a:pPr>
            <a:r>
              <a:rPr lang="en-US" sz="2000" dirty="0">
                <a:solidFill>
                  <a:srgbClr val="0F172A"/>
                </a:solidFill>
              </a:rPr>
              <a:t>We treat R(τ) as a number attached to a trajectory after the trajectory is sampled.</a:t>
            </a:r>
            <a:endParaRPr lang="en-US" sz="2000" dirty="0"/>
          </a:p>
          <a:p>
            <a:pPr marL="177800" indent="-177800">
              <a:buSzPct val="100000"/>
              <a:buChar char="•"/>
            </a:pPr>
            <a:r>
              <a:rPr lang="en-US" sz="2000" dirty="0">
                <a:solidFill>
                  <a:srgbClr val="0F172A"/>
                </a:solidFill>
              </a:rPr>
              <a:t>The thing that depends on θ is the probability of seeing that trajectory.</a:t>
            </a:r>
            <a:endParaRPr lang="en-US" sz="2000" dirty="0"/>
          </a:p>
          <a:p>
            <a:pPr marL="177800" indent="-177800">
              <a:buSzPct val="100000"/>
              <a:buChar char="•"/>
            </a:pPr>
            <a:r>
              <a:rPr lang="en-US" sz="2000" dirty="0">
                <a:solidFill>
                  <a:srgbClr val="0F172A"/>
                </a:solidFill>
              </a:rPr>
              <a:t>So the whole problem becomes: how can we rewrite ∇θ p(τ|θ) into something we can estimate from samples?</a:t>
            </a:r>
            <a:endParaRPr lang="en-US" sz="2000" dirty="0"/>
          </a:p>
        </p:txBody>
      </p:sp>
      <p:pic>
        <p:nvPicPr>
          <p:cNvPr id="15" name="Audio 14">
            <a:extLst>
              <a:ext uri="{FF2B5EF4-FFF2-40B4-BE49-F238E27FC236}">
                <a16:creationId xmlns:a16="http://schemas.microsoft.com/office/drawing/2014/main" id="{59A74A29-67F3-C00F-1D8B-B4396D8BE3F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040"/>
    </mc:Choice>
    <mc:Fallback>
      <p:transition spd="slow" advTm="56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4. The score-function trick</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This is the key identity behind REINFORCE.</a:t>
            </a:r>
            <a:endParaRPr lang="en-US" sz="1350" dirty="0"/>
          </a:p>
        </p:txBody>
      </p:sp>
      <p:sp>
        <p:nvSpPr>
          <p:cNvPr id="6" name="Shape 4"/>
          <p:cNvSpPr/>
          <p:nvPr/>
        </p:nvSpPr>
        <p:spPr>
          <a:xfrm>
            <a:off x="1234440" y="1280160"/>
            <a:ext cx="9784080" cy="1645920"/>
          </a:xfrm>
          <a:prstGeom prst="roundRect">
            <a:avLst>
              <a:gd name="adj" fmla="val 3333"/>
            </a:avLst>
          </a:prstGeom>
          <a:solidFill>
            <a:srgbClr val="EFF6FF"/>
          </a:solidFill>
          <a:ln w="12700">
            <a:solidFill>
              <a:srgbClr val="CBD5E1"/>
            </a:solidFill>
            <a:prstDash val="solid"/>
          </a:ln>
        </p:spPr>
        <p:txBody>
          <a:bodyPr/>
          <a:lstStyle/>
          <a:p>
            <a:endParaRPr lang="en-US"/>
          </a:p>
        </p:txBody>
      </p:sp>
      <p:sp>
        <p:nvSpPr>
          <p:cNvPr id="7" name="Text 5"/>
          <p:cNvSpPr/>
          <p:nvPr/>
        </p:nvSpPr>
        <p:spPr>
          <a:xfrm>
            <a:off x="1399032" y="1389888"/>
            <a:ext cx="9454896" cy="219456"/>
          </a:xfrm>
          <a:prstGeom prst="rect">
            <a:avLst/>
          </a:prstGeom>
          <a:noFill/>
          <a:ln/>
        </p:spPr>
        <p:txBody>
          <a:bodyPr wrap="square" rtlCol="0" anchor="ctr"/>
          <a:lstStyle/>
          <a:p>
            <a:pPr marL="0" indent="0">
              <a:buNone/>
            </a:pPr>
            <a:r>
              <a:rPr lang="en-US" sz="1700" b="1" dirty="0">
                <a:solidFill>
                  <a:srgbClr val="1D4ED8"/>
                </a:solidFill>
              </a:rPr>
              <a:t>Identity</a:t>
            </a:r>
            <a:endParaRPr lang="en-US" sz="1700" dirty="0"/>
          </a:p>
        </p:txBody>
      </p:sp>
      <p:sp>
        <p:nvSpPr>
          <p:cNvPr id="8" name="Text 6"/>
          <p:cNvSpPr/>
          <p:nvPr/>
        </p:nvSpPr>
        <p:spPr>
          <a:xfrm>
            <a:off x="1399032" y="1682496"/>
            <a:ext cx="9454896" cy="256032"/>
          </a:xfrm>
          <a:prstGeom prst="rect">
            <a:avLst/>
          </a:prstGeom>
          <a:noFill/>
          <a:ln/>
        </p:spPr>
        <p:txBody>
          <a:bodyPr wrap="square" lIns="0" tIns="0" rIns="0" bIns="0" rtlCol="0" anchor="ctr"/>
          <a:lstStyle/>
          <a:p>
            <a:pPr marL="0" indent="0" algn="ctr">
              <a:buNone/>
            </a:pPr>
            <a:r>
              <a:rPr lang="en-US" sz="1900" dirty="0">
                <a:solidFill>
                  <a:srgbClr val="0F172A"/>
                </a:solidFill>
              </a:rPr>
              <a:t>∇θ log p(τ|θ) = (1 / p(τ|θ)) ∇θ p(τ|θ)</a:t>
            </a:r>
            <a:endParaRPr lang="en-US" sz="1900" dirty="0"/>
          </a:p>
        </p:txBody>
      </p:sp>
      <p:sp>
        <p:nvSpPr>
          <p:cNvPr id="9" name="Text 7"/>
          <p:cNvSpPr/>
          <p:nvPr/>
        </p:nvSpPr>
        <p:spPr>
          <a:xfrm>
            <a:off x="1399032" y="2029968"/>
            <a:ext cx="9454896" cy="256032"/>
          </a:xfrm>
          <a:prstGeom prst="rect">
            <a:avLst/>
          </a:prstGeom>
          <a:noFill/>
          <a:ln/>
        </p:spPr>
        <p:txBody>
          <a:bodyPr wrap="square" lIns="0" tIns="0" rIns="0" bIns="0" rtlCol="0" anchor="ctr"/>
          <a:lstStyle/>
          <a:p>
            <a:pPr marL="0" indent="0" algn="ctr">
              <a:buNone/>
            </a:pPr>
            <a:r>
              <a:rPr lang="en-US" sz="1900" dirty="0">
                <a:solidFill>
                  <a:srgbClr val="0F172A"/>
                </a:solidFill>
              </a:rPr>
              <a:t>therefore</a:t>
            </a:r>
            <a:endParaRPr lang="en-US" sz="1900" dirty="0"/>
          </a:p>
        </p:txBody>
      </p:sp>
      <p:sp>
        <p:nvSpPr>
          <p:cNvPr id="10" name="Text 8"/>
          <p:cNvSpPr/>
          <p:nvPr/>
        </p:nvSpPr>
        <p:spPr>
          <a:xfrm>
            <a:off x="1399032" y="2377440"/>
            <a:ext cx="9454896" cy="256032"/>
          </a:xfrm>
          <a:prstGeom prst="rect">
            <a:avLst/>
          </a:prstGeom>
          <a:noFill/>
          <a:ln/>
        </p:spPr>
        <p:txBody>
          <a:bodyPr wrap="square" lIns="0" tIns="0" rIns="0" bIns="0" rtlCol="0" anchor="ctr"/>
          <a:lstStyle/>
          <a:p>
            <a:pPr marL="0" indent="0" algn="ctr">
              <a:buNone/>
            </a:pPr>
            <a:r>
              <a:rPr lang="en-US" sz="1900" dirty="0">
                <a:solidFill>
                  <a:srgbClr val="0F172A"/>
                </a:solidFill>
              </a:rPr>
              <a:t>∇θ p(τ|θ) = p(τ|θ) ∇θ log p(τ|θ)</a:t>
            </a:r>
            <a:endParaRPr lang="en-US" sz="1900" dirty="0"/>
          </a:p>
        </p:txBody>
      </p:sp>
      <p:sp>
        <p:nvSpPr>
          <p:cNvPr id="11" name="Shape 9"/>
          <p:cNvSpPr/>
          <p:nvPr/>
        </p:nvSpPr>
        <p:spPr>
          <a:xfrm>
            <a:off x="914400" y="3337560"/>
            <a:ext cx="10332720" cy="1371600"/>
          </a:xfrm>
          <a:prstGeom prst="roundRect">
            <a:avLst>
              <a:gd name="adj" fmla="val 4000"/>
            </a:avLst>
          </a:prstGeom>
          <a:solidFill>
            <a:srgbClr val="EEFDF3"/>
          </a:solidFill>
          <a:ln w="12700">
            <a:solidFill>
              <a:srgbClr val="CBD5E1"/>
            </a:solidFill>
            <a:prstDash val="solid"/>
          </a:ln>
        </p:spPr>
        <p:txBody>
          <a:bodyPr/>
          <a:lstStyle/>
          <a:p>
            <a:endParaRPr lang="en-US"/>
          </a:p>
        </p:txBody>
      </p:sp>
      <p:sp>
        <p:nvSpPr>
          <p:cNvPr id="12" name="Text 10"/>
          <p:cNvSpPr/>
          <p:nvPr/>
        </p:nvSpPr>
        <p:spPr>
          <a:xfrm>
            <a:off x="1078992" y="3447288"/>
            <a:ext cx="10003536" cy="219456"/>
          </a:xfrm>
          <a:prstGeom prst="rect">
            <a:avLst/>
          </a:prstGeom>
          <a:noFill/>
          <a:ln/>
        </p:spPr>
        <p:txBody>
          <a:bodyPr wrap="square" rtlCol="0" anchor="ctr"/>
          <a:lstStyle/>
          <a:p>
            <a:pPr marL="0" indent="0">
              <a:buNone/>
            </a:pPr>
            <a:r>
              <a:rPr lang="en-US" sz="1700" b="1" dirty="0">
                <a:solidFill>
                  <a:srgbClr val="1D4ED8"/>
                </a:solidFill>
              </a:rPr>
              <a:t>Plug it in</a:t>
            </a:r>
            <a:endParaRPr lang="en-US" sz="1700" dirty="0"/>
          </a:p>
        </p:txBody>
      </p:sp>
      <p:sp>
        <p:nvSpPr>
          <p:cNvPr id="13" name="Text 11"/>
          <p:cNvSpPr/>
          <p:nvPr/>
        </p:nvSpPr>
        <p:spPr>
          <a:xfrm>
            <a:off x="1078992" y="3739896"/>
            <a:ext cx="10003536" cy="256032"/>
          </a:xfrm>
          <a:prstGeom prst="rect">
            <a:avLst/>
          </a:prstGeom>
          <a:noFill/>
          <a:ln/>
        </p:spPr>
        <p:txBody>
          <a:bodyPr wrap="square" lIns="0" tIns="0" rIns="0" bIns="0" rtlCol="0" anchor="ctr"/>
          <a:lstStyle/>
          <a:p>
            <a:pPr marL="0" indent="0" algn="ctr">
              <a:buNone/>
            </a:pPr>
            <a:r>
              <a:rPr lang="en-US" sz="1900" dirty="0">
                <a:solidFill>
                  <a:srgbClr val="0F172A"/>
                </a:solidFill>
              </a:rPr>
              <a:t>∇θ J(θ) = ∫ p(τ|θ) ∇θ log p(τ|θ) R(τ) dτ</a:t>
            </a:r>
            <a:endParaRPr lang="en-US" sz="1900" dirty="0"/>
          </a:p>
        </p:txBody>
      </p:sp>
      <p:sp>
        <p:nvSpPr>
          <p:cNvPr id="14" name="Text 12"/>
          <p:cNvSpPr/>
          <p:nvPr/>
        </p:nvSpPr>
        <p:spPr>
          <a:xfrm>
            <a:off x="1078992" y="4087368"/>
            <a:ext cx="10003536" cy="256032"/>
          </a:xfrm>
          <a:prstGeom prst="rect">
            <a:avLst/>
          </a:prstGeom>
          <a:noFill/>
          <a:ln/>
        </p:spPr>
        <p:txBody>
          <a:bodyPr wrap="square" lIns="0" tIns="0" rIns="0" bIns="0" rtlCol="0" anchor="ctr"/>
          <a:lstStyle/>
          <a:p>
            <a:pPr marL="0" indent="0" algn="ctr">
              <a:buNone/>
            </a:pPr>
            <a:r>
              <a:rPr lang="en-US" sz="1900" dirty="0">
                <a:solidFill>
                  <a:srgbClr val="0F172A"/>
                </a:solidFill>
              </a:rPr>
              <a:t>= Eτ~p(τ|θ) [ ∇θ log p(τ|θ) · R(τ) ]</a:t>
            </a:r>
            <a:endParaRPr lang="en-US" sz="1900" dirty="0"/>
          </a:p>
        </p:txBody>
      </p:sp>
      <p:sp>
        <p:nvSpPr>
          <p:cNvPr id="15" name="Text 13"/>
          <p:cNvSpPr/>
          <p:nvPr/>
        </p:nvSpPr>
        <p:spPr>
          <a:xfrm>
            <a:off x="914400" y="5074920"/>
            <a:ext cx="10241280" cy="1033272"/>
          </a:xfrm>
          <a:prstGeom prst="rect">
            <a:avLst/>
          </a:prstGeom>
          <a:noFill/>
          <a:ln/>
        </p:spPr>
        <p:txBody>
          <a:bodyPr wrap="square" lIns="254" tIns="254" rIns="254" bIns="254" rtlCol="0" anchor="t"/>
          <a:lstStyle/>
          <a:p>
            <a:pPr marL="177800" indent="-177800">
              <a:buSzPct val="100000"/>
              <a:buChar char="•"/>
            </a:pPr>
            <a:r>
              <a:rPr lang="en-US" sz="1800" dirty="0">
                <a:solidFill>
                  <a:srgbClr val="0F172A"/>
                </a:solidFill>
              </a:rPr>
              <a:t>This is powerful because it turns “gradient of an expectation” into “expectation of something we can sample.”</a:t>
            </a:r>
            <a:endParaRPr lang="en-US" sz="1800" dirty="0"/>
          </a:p>
          <a:p>
            <a:pPr marL="177800" indent="-177800">
              <a:buSzPct val="100000"/>
              <a:buChar char="•"/>
            </a:pPr>
            <a:r>
              <a:rPr lang="en-US" sz="1800" dirty="0">
                <a:solidFill>
                  <a:srgbClr val="0F172A"/>
                </a:solidFill>
              </a:rPr>
              <a:t>Now we can estimate the gradient by sampling trajectories and averaging sample contributions.</a:t>
            </a:r>
            <a:endParaRPr lang="en-US" sz="1800" dirty="0"/>
          </a:p>
        </p:txBody>
      </p:sp>
      <p:pic>
        <p:nvPicPr>
          <p:cNvPr id="18" name="Audio 17">
            <a:extLst>
              <a:ext uri="{FF2B5EF4-FFF2-40B4-BE49-F238E27FC236}">
                <a16:creationId xmlns:a16="http://schemas.microsoft.com/office/drawing/2014/main" id="{2DEFA629-22D4-7215-A8B0-C764EB47C81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400"/>
    </mc:Choice>
    <mc:Fallback>
      <p:transition spd="slow" advTm="60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5. Expand the trajectory probability</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We now use the structure of the RL process.</a:t>
            </a:r>
            <a:endParaRPr lang="en-US" sz="1350" dirty="0"/>
          </a:p>
        </p:txBody>
      </p:sp>
      <p:sp>
        <p:nvSpPr>
          <p:cNvPr id="6" name="Shape 4"/>
          <p:cNvSpPr/>
          <p:nvPr/>
        </p:nvSpPr>
        <p:spPr>
          <a:xfrm>
            <a:off x="822960" y="1371600"/>
            <a:ext cx="1060704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7" name="Text 5"/>
          <p:cNvSpPr/>
          <p:nvPr/>
        </p:nvSpPr>
        <p:spPr>
          <a:xfrm>
            <a:off x="987552" y="1481328"/>
            <a:ext cx="10277856" cy="219456"/>
          </a:xfrm>
          <a:prstGeom prst="rect">
            <a:avLst/>
          </a:prstGeom>
          <a:noFill/>
          <a:ln/>
        </p:spPr>
        <p:txBody>
          <a:bodyPr wrap="square" rtlCol="0" anchor="ctr"/>
          <a:lstStyle/>
          <a:p>
            <a:pPr marL="0" indent="0">
              <a:buNone/>
            </a:pPr>
            <a:r>
              <a:rPr lang="en-US" sz="1700" b="1" dirty="0">
                <a:solidFill>
                  <a:srgbClr val="1D4ED8"/>
                </a:solidFill>
              </a:rPr>
              <a:t>Factorization of p(τ|θ)</a:t>
            </a:r>
            <a:endParaRPr lang="en-US" sz="1700" dirty="0"/>
          </a:p>
        </p:txBody>
      </p:sp>
      <p:sp>
        <p:nvSpPr>
          <p:cNvPr id="8" name="Text 6"/>
          <p:cNvSpPr/>
          <p:nvPr/>
        </p:nvSpPr>
        <p:spPr>
          <a:xfrm>
            <a:off x="987552" y="1773936"/>
            <a:ext cx="10277856" cy="256032"/>
          </a:xfrm>
          <a:prstGeom prst="rect">
            <a:avLst/>
          </a:prstGeom>
          <a:noFill/>
          <a:ln/>
        </p:spPr>
        <p:txBody>
          <a:bodyPr wrap="square" lIns="0" tIns="0" rIns="0" bIns="0" rtlCol="0" anchor="ctr"/>
          <a:lstStyle/>
          <a:p>
            <a:pPr marL="0" indent="0" algn="ctr">
              <a:buNone/>
            </a:pPr>
            <a:r>
              <a:rPr lang="en-US" sz="1900" dirty="0">
                <a:solidFill>
                  <a:srgbClr val="0F172A"/>
                </a:solidFill>
              </a:rPr>
              <a:t>p(τ|θ) = μ(s0) Πt=0..T−1 πθ(at|st) P(st+1, rt | st, at)</a:t>
            </a:r>
            <a:endParaRPr lang="en-US" sz="1900" dirty="0"/>
          </a:p>
        </p:txBody>
      </p:sp>
      <p:sp>
        <p:nvSpPr>
          <p:cNvPr id="9" name="Shape 7"/>
          <p:cNvSpPr/>
          <p:nvPr/>
        </p:nvSpPr>
        <p:spPr>
          <a:xfrm>
            <a:off x="822960" y="2743200"/>
            <a:ext cx="10607040" cy="914400"/>
          </a:xfrm>
          <a:prstGeom prst="roundRect">
            <a:avLst>
              <a:gd name="adj" fmla="val 6000"/>
            </a:avLst>
          </a:prstGeom>
          <a:solidFill>
            <a:srgbClr val="FEFCE8"/>
          </a:solidFill>
          <a:ln w="12700">
            <a:solidFill>
              <a:srgbClr val="CBD5E1"/>
            </a:solidFill>
            <a:prstDash val="solid"/>
          </a:ln>
        </p:spPr>
        <p:txBody>
          <a:bodyPr/>
          <a:lstStyle/>
          <a:p>
            <a:endParaRPr lang="en-US"/>
          </a:p>
        </p:txBody>
      </p:sp>
      <p:sp>
        <p:nvSpPr>
          <p:cNvPr id="10" name="Text 8"/>
          <p:cNvSpPr/>
          <p:nvPr/>
        </p:nvSpPr>
        <p:spPr>
          <a:xfrm>
            <a:off x="987552" y="2852928"/>
            <a:ext cx="10277856" cy="219456"/>
          </a:xfrm>
          <a:prstGeom prst="rect">
            <a:avLst/>
          </a:prstGeom>
          <a:noFill/>
          <a:ln/>
        </p:spPr>
        <p:txBody>
          <a:bodyPr wrap="square" rtlCol="0" anchor="ctr"/>
          <a:lstStyle/>
          <a:p>
            <a:pPr marL="0" indent="0">
              <a:buNone/>
            </a:pPr>
            <a:r>
              <a:rPr lang="en-US" sz="1700" b="1" dirty="0">
                <a:solidFill>
                  <a:srgbClr val="1D4ED8"/>
                </a:solidFill>
              </a:rPr>
              <a:t>Take log</a:t>
            </a:r>
            <a:endParaRPr lang="en-US" sz="1700" dirty="0"/>
          </a:p>
        </p:txBody>
      </p:sp>
      <p:sp>
        <p:nvSpPr>
          <p:cNvPr id="11" name="Text 9"/>
          <p:cNvSpPr/>
          <p:nvPr/>
        </p:nvSpPr>
        <p:spPr>
          <a:xfrm>
            <a:off x="987552" y="3145536"/>
            <a:ext cx="10277856" cy="256032"/>
          </a:xfrm>
          <a:prstGeom prst="rect">
            <a:avLst/>
          </a:prstGeom>
          <a:noFill/>
          <a:ln/>
        </p:spPr>
        <p:txBody>
          <a:bodyPr wrap="square" lIns="0" tIns="0" rIns="0" bIns="0" rtlCol="0" anchor="ctr"/>
          <a:lstStyle/>
          <a:p>
            <a:pPr marL="0" indent="0" algn="ctr">
              <a:buNone/>
            </a:pPr>
            <a:r>
              <a:rPr lang="en-US" sz="1900" dirty="0">
                <a:solidFill>
                  <a:srgbClr val="0F172A"/>
                </a:solidFill>
              </a:rPr>
              <a:t>log p(τ|θ) = log μ(s0) + Σt log πθ(at|st) + Σt log P(st+1, rt | st, at)</a:t>
            </a:r>
            <a:endParaRPr lang="en-US" sz="1900" dirty="0"/>
          </a:p>
        </p:txBody>
      </p:sp>
      <p:sp>
        <p:nvSpPr>
          <p:cNvPr id="12" name="Shape 10"/>
          <p:cNvSpPr/>
          <p:nvPr/>
        </p:nvSpPr>
        <p:spPr>
          <a:xfrm>
            <a:off x="2103120" y="4160520"/>
            <a:ext cx="7955280" cy="868680"/>
          </a:xfrm>
          <a:prstGeom prst="roundRect">
            <a:avLst>
              <a:gd name="adj" fmla="val 6316"/>
            </a:avLst>
          </a:prstGeom>
          <a:solidFill>
            <a:srgbClr val="EEFDF3"/>
          </a:solidFill>
          <a:ln w="12700">
            <a:solidFill>
              <a:srgbClr val="CBD5E1"/>
            </a:solidFill>
            <a:prstDash val="solid"/>
          </a:ln>
        </p:spPr>
        <p:txBody>
          <a:bodyPr/>
          <a:lstStyle/>
          <a:p>
            <a:endParaRPr lang="en-US"/>
          </a:p>
        </p:txBody>
      </p:sp>
      <p:sp>
        <p:nvSpPr>
          <p:cNvPr id="13" name="Text 11"/>
          <p:cNvSpPr/>
          <p:nvPr/>
        </p:nvSpPr>
        <p:spPr>
          <a:xfrm>
            <a:off x="2267712" y="4270248"/>
            <a:ext cx="7626096" cy="219456"/>
          </a:xfrm>
          <a:prstGeom prst="rect">
            <a:avLst/>
          </a:prstGeom>
          <a:noFill/>
          <a:ln/>
        </p:spPr>
        <p:txBody>
          <a:bodyPr wrap="square" rtlCol="0" anchor="ctr"/>
          <a:lstStyle/>
          <a:p>
            <a:pPr marL="0" indent="0">
              <a:buNone/>
            </a:pPr>
            <a:r>
              <a:rPr lang="en-US" sz="1700" b="1" dirty="0">
                <a:solidFill>
                  <a:srgbClr val="1D4ED8"/>
                </a:solidFill>
              </a:rPr>
              <a:t>Differentiate with respect to θ</a:t>
            </a:r>
            <a:endParaRPr lang="en-US" sz="1700" dirty="0"/>
          </a:p>
        </p:txBody>
      </p:sp>
      <p:sp>
        <p:nvSpPr>
          <p:cNvPr id="14" name="Text 12"/>
          <p:cNvSpPr/>
          <p:nvPr/>
        </p:nvSpPr>
        <p:spPr>
          <a:xfrm>
            <a:off x="2267712" y="4562856"/>
            <a:ext cx="7626096" cy="256032"/>
          </a:xfrm>
          <a:prstGeom prst="rect">
            <a:avLst/>
          </a:prstGeom>
          <a:noFill/>
          <a:ln/>
        </p:spPr>
        <p:txBody>
          <a:bodyPr wrap="square" lIns="0" tIns="0" rIns="0" bIns="0" rtlCol="0" anchor="ctr"/>
          <a:lstStyle/>
          <a:p>
            <a:pPr marL="0" indent="0" algn="ctr">
              <a:buNone/>
            </a:pPr>
            <a:r>
              <a:rPr lang="en-US" sz="1900" dirty="0">
                <a:solidFill>
                  <a:srgbClr val="0F172A"/>
                </a:solidFill>
              </a:rPr>
              <a:t>∇θ log p(τ|θ) = Σt ∇θ log πθ(at|st)</a:t>
            </a:r>
            <a:endParaRPr lang="en-US" sz="1900" dirty="0"/>
          </a:p>
        </p:txBody>
      </p:sp>
      <p:sp>
        <p:nvSpPr>
          <p:cNvPr id="15" name="Text 13"/>
          <p:cNvSpPr/>
          <p:nvPr/>
        </p:nvSpPr>
        <p:spPr>
          <a:xfrm>
            <a:off x="868680" y="5212080"/>
            <a:ext cx="10515600" cy="1444752"/>
          </a:xfrm>
          <a:prstGeom prst="rect">
            <a:avLst/>
          </a:prstGeom>
          <a:noFill/>
          <a:ln/>
        </p:spPr>
        <p:txBody>
          <a:bodyPr wrap="square" lIns="254" tIns="254" rIns="254" bIns="254" rtlCol="0" anchor="t"/>
          <a:lstStyle/>
          <a:p>
            <a:pPr marL="177800" indent="-177800">
              <a:buSzPct val="100000"/>
              <a:buChar char="•"/>
            </a:pPr>
            <a:r>
              <a:rPr lang="en-US" sz="1700" dirty="0">
                <a:solidFill>
                  <a:srgbClr val="0F172A"/>
                </a:solidFill>
              </a:rPr>
              <a:t>μ(s0) drops out because the initial-state distribution does not depend on θ.</a:t>
            </a:r>
            <a:endParaRPr lang="en-US" sz="1700" dirty="0"/>
          </a:p>
          <a:p>
            <a:pPr marL="177800" indent="-177800">
              <a:buSzPct val="100000"/>
              <a:buChar char="•"/>
            </a:pPr>
            <a:r>
              <a:rPr lang="en-US" sz="1700" dirty="0">
                <a:solidFill>
                  <a:srgbClr val="0F172A"/>
                </a:solidFill>
              </a:rPr>
              <a:t>P(st+1, rt | st, at) drops out because the environment is not parameterized by θ.</a:t>
            </a:r>
            <a:endParaRPr lang="en-US" sz="1700" dirty="0"/>
          </a:p>
          <a:p>
            <a:pPr marL="177800" indent="-177800">
              <a:buSzPct val="100000"/>
              <a:buChar char="•"/>
            </a:pPr>
            <a:r>
              <a:rPr lang="en-US" sz="1700" dirty="0">
                <a:solidFill>
                  <a:srgbClr val="0F172A"/>
                </a:solidFill>
              </a:rPr>
              <a:t>Only the policy terms remain. This is why policy gradients do not need a model of the environment.</a:t>
            </a:r>
            <a:endParaRPr lang="en-US" sz="1700" dirty="0"/>
          </a:p>
        </p:txBody>
      </p:sp>
      <p:pic>
        <p:nvPicPr>
          <p:cNvPr id="18" name="Audio 17">
            <a:extLst>
              <a:ext uri="{FF2B5EF4-FFF2-40B4-BE49-F238E27FC236}">
                <a16:creationId xmlns:a16="http://schemas.microsoft.com/office/drawing/2014/main" id="{72A55D19-E87C-E219-A079-A60C895DC82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140"/>
    </mc:Choice>
    <mc:Fallback>
      <p:transition spd="slow" advTm="58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6. First practical policy-gradient formula</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Substitute the trajectory-log-probability into the previous result.</a:t>
            </a:r>
            <a:endParaRPr lang="en-US" sz="1350" dirty="0"/>
          </a:p>
        </p:txBody>
      </p:sp>
      <p:sp>
        <p:nvSpPr>
          <p:cNvPr id="6" name="Shape 4"/>
          <p:cNvSpPr/>
          <p:nvPr/>
        </p:nvSpPr>
        <p:spPr>
          <a:xfrm>
            <a:off x="1005840" y="1508760"/>
            <a:ext cx="1005840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7" name="Text 5"/>
          <p:cNvSpPr/>
          <p:nvPr/>
        </p:nvSpPr>
        <p:spPr>
          <a:xfrm>
            <a:off x="1170432" y="1618488"/>
            <a:ext cx="9729216" cy="219456"/>
          </a:xfrm>
          <a:prstGeom prst="rect">
            <a:avLst/>
          </a:prstGeom>
          <a:noFill/>
          <a:ln/>
        </p:spPr>
        <p:txBody>
          <a:bodyPr wrap="square" rtlCol="0" anchor="ctr"/>
          <a:lstStyle/>
          <a:p>
            <a:pPr marL="0" indent="0">
              <a:buNone/>
            </a:pPr>
            <a:r>
              <a:rPr lang="en-US" sz="1700" b="1" dirty="0">
                <a:solidFill>
                  <a:srgbClr val="1D4ED8"/>
                </a:solidFill>
              </a:rPr>
              <a:t>Substitution</a:t>
            </a:r>
            <a:endParaRPr lang="en-US" sz="1700" dirty="0"/>
          </a:p>
        </p:txBody>
      </p:sp>
      <p:sp>
        <p:nvSpPr>
          <p:cNvPr id="8" name="Text 6"/>
          <p:cNvSpPr/>
          <p:nvPr/>
        </p:nvSpPr>
        <p:spPr>
          <a:xfrm>
            <a:off x="1170432" y="1911096"/>
            <a:ext cx="9729216" cy="256032"/>
          </a:xfrm>
          <a:prstGeom prst="rect">
            <a:avLst/>
          </a:prstGeom>
          <a:noFill/>
          <a:ln/>
        </p:spPr>
        <p:txBody>
          <a:bodyPr wrap="square" lIns="0" tIns="0" rIns="0" bIns="0" rtlCol="0" anchor="ctr"/>
          <a:lstStyle/>
          <a:p>
            <a:pPr marL="0" indent="0" algn="ctr">
              <a:buNone/>
            </a:pPr>
            <a:r>
              <a:rPr lang="en-US" sz="1900" dirty="0">
                <a:solidFill>
                  <a:srgbClr val="0F172A"/>
                </a:solidFill>
              </a:rPr>
              <a:t>∇θ J(θ) = Eτ [ ( Σt ∇θ log πθ(at|st) ) · R(τ) ]</a:t>
            </a:r>
            <a:endParaRPr lang="en-US" sz="1900" dirty="0"/>
          </a:p>
        </p:txBody>
      </p:sp>
      <p:sp>
        <p:nvSpPr>
          <p:cNvPr id="9" name="Text 7"/>
          <p:cNvSpPr/>
          <p:nvPr/>
        </p:nvSpPr>
        <p:spPr>
          <a:xfrm>
            <a:off x="914400" y="2743200"/>
            <a:ext cx="10424160" cy="2240280"/>
          </a:xfrm>
          <a:prstGeom prst="rect">
            <a:avLst/>
          </a:prstGeom>
          <a:noFill/>
          <a:ln/>
        </p:spPr>
        <p:txBody>
          <a:bodyPr wrap="square" lIns="254" tIns="254" rIns="254" bIns="254" rtlCol="0" anchor="t"/>
          <a:lstStyle/>
          <a:p>
            <a:pPr marL="177800" indent="-177800">
              <a:buSzPct val="100000"/>
              <a:buChar char="•"/>
            </a:pPr>
            <a:r>
              <a:rPr lang="en-US" sz="2000" dirty="0">
                <a:solidFill>
                  <a:srgbClr val="0F172A"/>
                </a:solidFill>
              </a:rPr>
              <a:t>Interpretation: for one sampled trajectory, look at every sampled action.</a:t>
            </a:r>
            <a:endParaRPr lang="en-US" sz="2000" dirty="0"/>
          </a:p>
          <a:p>
            <a:pPr marL="177800" indent="-177800">
              <a:buSzPct val="100000"/>
              <a:buChar char="•"/>
            </a:pPr>
            <a:r>
              <a:rPr lang="en-US" sz="2000" dirty="0">
                <a:solidFill>
                  <a:srgbClr val="0F172A"/>
                </a:solidFill>
              </a:rPr>
              <a:t>If the total return R(τ) is large, increase the log-probability of all sampled actions in that trajectory.</a:t>
            </a:r>
            <a:endParaRPr lang="en-US" sz="2000" dirty="0"/>
          </a:p>
          <a:p>
            <a:pPr marL="177800" indent="-177800">
              <a:buSzPct val="100000"/>
              <a:buChar char="•"/>
            </a:pPr>
            <a:r>
              <a:rPr lang="en-US" sz="2000" dirty="0">
                <a:solidFill>
                  <a:srgbClr val="0F172A"/>
                </a:solidFill>
              </a:rPr>
              <a:t>If the return is poor, decrease them.</a:t>
            </a:r>
            <a:endParaRPr lang="en-US" sz="2000" dirty="0"/>
          </a:p>
          <a:p>
            <a:pPr marL="177800" indent="-177800">
              <a:buSzPct val="100000"/>
              <a:buChar char="•"/>
            </a:pPr>
            <a:r>
              <a:rPr lang="en-US" sz="2000" dirty="0">
                <a:solidFill>
                  <a:srgbClr val="0F172A"/>
                </a:solidFill>
              </a:rPr>
              <a:t>This already gives a correct unbiased gradient estimator, but it has high variance.</a:t>
            </a:r>
            <a:endParaRPr lang="en-US" sz="2000" dirty="0"/>
          </a:p>
        </p:txBody>
      </p:sp>
      <p:sp>
        <p:nvSpPr>
          <p:cNvPr id="10" name="Shape 8"/>
          <p:cNvSpPr/>
          <p:nvPr/>
        </p:nvSpPr>
        <p:spPr>
          <a:xfrm>
            <a:off x="2240280" y="5212080"/>
            <a:ext cx="7589520" cy="868680"/>
          </a:xfrm>
          <a:prstGeom prst="roundRect">
            <a:avLst>
              <a:gd name="adj" fmla="val 6316"/>
            </a:avLst>
          </a:prstGeom>
          <a:solidFill>
            <a:srgbClr val="FEF2F2"/>
          </a:solidFill>
          <a:ln w="12700">
            <a:solidFill>
              <a:srgbClr val="CBD5E1"/>
            </a:solidFill>
            <a:prstDash val="solid"/>
          </a:ln>
        </p:spPr>
        <p:txBody>
          <a:bodyPr/>
          <a:lstStyle/>
          <a:p>
            <a:endParaRPr lang="en-US"/>
          </a:p>
        </p:txBody>
      </p:sp>
      <p:sp>
        <p:nvSpPr>
          <p:cNvPr id="11" name="Text 9"/>
          <p:cNvSpPr/>
          <p:nvPr/>
        </p:nvSpPr>
        <p:spPr>
          <a:xfrm>
            <a:off x="2404872" y="5321808"/>
            <a:ext cx="7260336" cy="219456"/>
          </a:xfrm>
          <a:prstGeom prst="rect">
            <a:avLst/>
          </a:prstGeom>
          <a:noFill/>
          <a:ln/>
        </p:spPr>
        <p:txBody>
          <a:bodyPr wrap="square" rtlCol="0" anchor="ctr"/>
          <a:lstStyle/>
          <a:p>
            <a:pPr marL="0" indent="0">
              <a:buNone/>
            </a:pPr>
            <a:r>
              <a:rPr lang="en-US" sz="1700" b="1" dirty="0">
                <a:solidFill>
                  <a:srgbClr val="1D4ED8"/>
                </a:solidFill>
              </a:rPr>
              <a:t>Single-trajectory sample gradient</a:t>
            </a:r>
            <a:endParaRPr lang="en-US" sz="1700" dirty="0"/>
          </a:p>
        </p:txBody>
      </p:sp>
      <p:sp>
        <p:nvSpPr>
          <p:cNvPr id="12" name="Text 10"/>
          <p:cNvSpPr/>
          <p:nvPr/>
        </p:nvSpPr>
        <p:spPr>
          <a:xfrm>
            <a:off x="2404872" y="5614416"/>
            <a:ext cx="7260336" cy="256032"/>
          </a:xfrm>
          <a:prstGeom prst="rect">
            <a:avLst/>
          </a:prstGeom>
          <a:noFill/>
          <a:ln/>
        </p:spPr>
        <p:txBody>
          <a:bodyPr wrap="square" lIns="0" tIns="0" rIns="0" bIns="0" rtlCol="0" anchor="ctr"/>
          <a:lstStyle/>
          <a:p>
            <a:pPr marL="0" indent="0" algn="ctr">
              <a:buNone/>
            </a:pPr>
            <a:r>
              <a:rPr lang="en-US" sz="1900" dirty="0">
                <a:solidFill>
                  <a:srgbClr val="0F172A"/>
                </a:solidFill>
              </a:rPr>
              <a:t>ĝ(τ) = ( Σt ∇θ log πθ(at|st) ) · R(τ)</a:t>
            </a:r>
            <a:endParaRPr lang="en-US" sz="1900" dirty="0"/>
          </a:p>
        </p:txBody>
      </p:sp>
      <p:pic>
        <p:nvPicPr>
          <p:cNvPr id="15" name="Audio 14">
            <a:extLst>
              <a:ext uri="{FF2B5EF4-FFF2-40B4-BE49-F238E27FC236}">
                <a16:creationId xmlns:a16="http://schemas.microsoft.com/office/drawing/2014/main" id="{44145078-B18C-FCE4-A822-E60210D8C67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020"/>
    </mc:Choice>
    <mc:Fallback>
      <p:transition spd="slow" advTm="67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7. Improve the formula with reward-to-go</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Why should an early action be weighted by rewards that happened before it? It should not.</a:t>
            </a:r>
            <a:endParaRPr lang="en-US" sz="1350" dirty="0"/>
          </a:p>
        </p:txBody>
      </p:sp>
      <p:sp>
        <p:nvSpPr>
          <p:cNvPr id="6" name="Shape 4"/>
          <p:cNvSpPr/>
          <p:nvPr/>
        </p:nvSpPr>
        <p:spPr>
          <a:xfrm>
            <a:off x="914400" y="1417320"/>
            <a:ext cx="10241280" cy="914400"/>
          </a:xfrm>
          <a:prstGeom prst="roundRect">
            <a:avLst>
              <a:gd name="adj" fmla="val 6000"/>
            </a:avLst>
          </a:prstGeom>
          <a:solidFill>
            <a:srgbClr val="EEFDF3"/>
          </a:solidFill>
          <a:ln w="12700">
            <a:solidFill>
              <a:srgbClr val="CBD5E1"/>
            </a:solidFill>
            <a:prstDash val="solid"/>
          </a:ln>
        </p:spPr>
        <p:txBody>
          <a:bodyPr/>
          <a:lstStyle/>
          <a:p>
            <a:endParaRPr lang="en-US"/>
          </a:p>
        </p:txBody>
      </p:sp>
      <p:sp>
        <p:nvSpPr>
          <p:cNvPr id="7" name="Text 5"/>
          <p:cNvSpPr/>
          <p:nvPr/>
        </p:nvSpPr>
        <p:spPr>
          <a:xfrm>
            <a:off x="1078992" y="1527048"/>
            <a:ext cx="9912096" cy="219456"/>
          </a:xfrm>
          <a:prstGeom prst="rect">
            <a:avLst/>
          </a:prstGeom>
          <a:noFill/>
          <a:ln/>
        </p:spPr>
        <p:txBody>
          <a:bodyPr wrap="square" rtlCol="0" anchor="ctr"/>
          <a:lstStyle/>
          <a:p>
            <a:pPr marL="0" indent="0">
              <a:buNone/>
            </a:pPr>
            <a:r>
              <a:rPr lang="en-US" sz="1700" b="1" dirty="0">
                <a:solidFill>
                  <a:srgbClr val="1D4ED8"/>
                </a:solidFill>
              </a:rPr>
              <a:t>Define return-to-go</a:t>
            </a:r>
            <a:endParaRPr lang="en-US" sz="1700" dirty="0"/>
          </a:p>
        </p:txBody>
      </p:sp>
      <p:sp>
        <p:nvSpPr>
          <p:cNvPr id="8" name="Text 6"/>
          <p:cNvSpPr/>
          <p:nvPr/>
        </p:nvSpPr>
        <p:spPr>
          <a:xfrm>
            <a:off x="1078992" y="1819656"/>
            <a:ext cx="9912096" cy="256032"/>
          </a:xfrm>
          <a:prstGeom prst="rect">
            <a:avLst/>
          </a:prstGeom>
          <a:noFill/>
          <a:ln/>
        </p:spPr>
        <p:txBody>
          <a:bodyPr wrap="square" lIns="0" tIns="0" rIns="0" bIns="0" rtlCol="0" anchor="ctr"/>
          <a:lstStyle/>
          <a:p>
            <a:pPr marL="0" indent="0" algn="ctr">
              <a:buNone/>
            </a:pPr>
            <a:r>
              <a:rPr lang="en-US" sz="1900" dirty="0">
                <a:solidFill>
                  <a:srgbClr val="0F172A"/>
                </a:solidFill>
              </a:rPr>
              <a:t>Gt = rt + γrt+1 + γ²rt+2 + ⋯ = Σk=t..T−1 γ^(k−t) rk</a:t>
            </a:r>
            <a:endParaRPr lang="en-US" sz="1900" dirty="0"/>
          </a:p>
        </p:txBody>
      </p:sp>
      <p:sp>
        <p:nvSpPr>
          <p:cNvPr id="9" name="Text 7"/>
          <p:cNvSpPr/>
          <p:nvPr/>
        </p:nvSpPr>
        <p:spPr>
          <a:xfrm>
            <a:off x="868680" y="2743200"/>
            <a:ext cx="10515600" cy="1691640"/>
          </a:xfrm>
          <a:prstGeom prst="rect">
            <a:avLst/>
          </a:prstGeom>
          <a:noFill/>
          <a:ln/>
        </p:spPr>
        <p:txBody>
          <a:bodyPr wrap="square" lIns="254" tIns="254" rIns="254" bIns="254" rtlCol="0" anchor="t"/>
          <a:lstStyle/>
          <a:p>
            <a:pPr marL="177800" indent="-177800">
              <a:buSzPct val="100000"/>
              <a:buChar char="•"/>
            </a:pPr>
            <a:r>
              <a:rPr lang="en-US" sz="2000" dirty="0">
                <a:solidFill>
                  <a:srgbClr val="0F172A"/>
                </a:solidFill>
              </a:rPr>
              <a:t>The action at time t can only affect rewards at time t and later, not rewards from the past.</a:t>
            </a:r>
            <a:endParaRPr lang="en-US" sz="2000" dirty="0"/>
          </a:p>
          <a:p>
            <a:pPr marL="177800" indent="-177800">
              <a:buSzPct val="100000"/>
              <a:buChar char="•"/>
            </a:pPr>
            <a:r>
              <a:rPr lang="en-US" sz="2000" dirty="0">
                <a:solidFill>
                  <a:srgbClr val="0F172A"/>
                </a:solidFill>
              </a:rPr>
              <a:t>So replacing R(τ) by Gt removes irrelevant noise and gives better credit assignment.</a:t>
            </a:r>
            <a:endParaRPr lang="en-US" sz="2000" dirty="0"/>
          </a:p>
          <a:p>
            <a:pPr marL="177800" indent="-177800">
              <a:buSzPct val="100000"/>
              <a:buChar char="•"/>
            </a:pPr>
            <a:r>
              <a:rPr lang="en-US" sz="2000" dirty="0">
                <a:solidFill>
                  <a:srgbClr val="0F172A"/>
                </a:solidFill>
              </a:rPr>
              <a:t>This is a causality argument: future rewards depend on the current action, past rewards do not.</a:t>
            </a:r>
            <a:endParaRPr lang="en-US" sz="2000" dirty="0"/>
          </a:p>
        </p:txBody>
      </p:sp>
      <p:sp>
        <p:nvSpPr>
          <p:cNvPr id="10" name="Shape 8"/>
          <p:cNvSpPr/>
          <p:nvPr/>
        </p:nvSpPr>
        <p:spPr>
          <a:xfrm>
            <a:off x="1965960" y="5257800"/>
            <a:ext cx="8229600" cy="868680"/>
          </a:xfrm>
          <a:prstGeom prst="roundRect">
            <a:avLst>
              <a:gd name="adj" fmla="val 6316"/>
            </a:avLst>
          </a:prstGeom>
          <a:solidFill>
            <a:srgbClr val="FEFCE8"/>
          </a:solidFill>
          <a:ln w="12700">
            <a:solidFill>
              <a:srgbClr val="CBD5E1"/>
            </a:solidFill>
            <a:prstDash val="solid"/>
          </a:ln>
        </p:spPr>
        <p:txBody>
          <a:bodyPr/>
          <a:lstStyle/>
          <a:p>
            <a:endParaRPr lang="en-US"/>
          </a:p>
        </p:txBody>
      </p:sp>
      <p:sp>
        <p:nvSpPr>
          <p:cNvPr id="11" name="Text 9"/>
          <p:cNvSpPr/>
          <p:nvPr/>
        </p:nvSpPr>
        <p:spPr>
          <a:xfrm>
            <a:off x="2130552" y="5367528"/>
            <a:ext cx="7900416" cy="219456"/>
          </a:xfrm>
          <a:prstGeom prst="rect">
            <a:avLst/>
          </a:prstGeom>
          <a:noFill/>
          <a:ln/>
        </p:spPr>
        <p:txBody>
          <a:bodyPr wrap="square" rtlCol="0" anchor="ctr"/>
          <a:lstStyle/>
          <a:p>
            <a:pPr marL="0" indent="0">
              <a:buNone/>
            </a:pPr>
            <a:r>
              <a:rPr lang="en-US" sz="1700" b="1" dirty="0">
                <a:solidFill>
                  <a:srgbClr val="1D4ED8"/>
                </a:solidFill>
              </a:rPr>
              <a:t>Reward-to-go form</a:t>
            </a:r>
            <a:endParaRPr lang="en-US" sz="1700" dirty="0"/>
          </a:p>
        </p:txBody>
      </p:sp>
      <p:sp>
        <p:nvSpPr>
          <p:cNvPr id="12" name="Text 10"/>
          <p:cNvSpPr/>
          <p:nvPr/>
        </p:nvSpPr>
        <p:spPr>
          <a:xfrm>
            <a:off x="2130552" y="5660136"/>
            <a:ext cx="7900416" cy="256032"/>
          </a:xfrm>
          <a:prstGeom prst="rect">
            <a:avLst/>
          </a:prstGeom>
          <a:noFill/>
          <a:ln/>
        </p:spPr>
        <p:txBody>
          <a:bodyPr wrap="square" lIns="0" tIns="0" rIns="0" bIns="0" rtlCol="0" anchor="ctr"/>
          <a:lstStyle/>
          <a:p>
            <a:pPr marL="0" indent="0" algn="ctr">
              <a:buNone/>
            </a:pPr>
            <a:r>
              <a:rPr lang="en-US" sz="1900" dirty="0">
                <a:solidFill>
                  <a:srgbClr val="0F172A"/>
                </a:solidFill>
              </a:rPr>
              <a:t>∇θ J(θ) = Eτ [ Σt ∇θ log πθ(at|st) · Gt ]</a:t>
            </a:r>
            <a:endParaRPr lang="en-US" sz="1900" dirty="0"/>
          </a:p>
        </p:txBody>
      </p:sp>
      <p:pic>
        <p:nvPicPr>
          <p:cNvPr id="15" name="Audio 14">
            <a:extLst>
              <a:ext uri="{FF2B5EF4-FFF2-40B4-BE49-F238E27FC236}">
                <a16:creationId xmlns:a16="http://schemas.microsoft.com/office/drawing/2014/main" id="{513440A7-DE72-0F8B-2823-422FA3F4CC0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320"/>
    </mc:Choice>
    <mc:Fallback>
      <p:transition spd="slow" advTm="57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8. Monte Carlo gradient estimate</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The expectation becomes a sample average over N complete episodes.</a:t>
            </a:r>
            <a:endParaRPr lang="en-US" sz="1350" dirty="0"/>
          </a:p>
        </p:txBody>
      </p:sp>
      <p:sp>
        <p:nvSpPr>
          <p:cNvPr id="6" name="Shape 4"/>
          <p:cNvSpPr/>
          <p:nvPr/>
        </p:nvSpPr>
        <p:spPr>
          <a:xfrm>
            <a:off x="777240" y="1417320"/>
            <a:ext cx="1069848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7" name="Text 5"/>
          <p:cNvSpPr/>
          <p:nvPr/>
        </p:nvSpPr>
        <p:spPr>
          <a:xfrm>
            <a:off x="941832" y="1527048"/>
            <a:ext cx="10369296" cy="219456"/>
          </a:xfrm>
          <a:prstGeom prst="rect">
            <a:avLst/>
          </a:prstGeom>
          <a:noFill/>
          <a:ln/>
        </p:spPr>
        <p:txBody>
          <a:bodyPr wrap="square" rtlCol="0" anchor="ctr"/>
          <a:lstStyle/>
          <a:p>
            <a:pPr marL="0" indent="0">
              <a:buNone/>
            </a:pPr>
            <a:r>
              <a:rPr lang="en-US" sz="1700" b="1" dirty="0">
                <a:solidFill>
                  <a:srgbClr val="1D4ED8"/>
                </a:solidFill>
              </a:rPr>
              <a:t>Estimator</a:t>
            </a:r>
            <a:endParaRPr lang="en-US" sz="1700" dirty="0"/>
          </a:p>
        </p:txBody>
      </p:sp>
      <p:sp>
        <p:nvSpPr>
          <p:cNvPr id="8" name="Text 6"/>
          <p:cNvSpPr/>
          <p:nvPr/>
        </p:nvSpPr>
        <p:spPr>
          <a:xfrm>
            <a:off x="941832" y="1819656"/>
            <a:ext cx="10369296" cy="256032"/>
          </a:xfrm>
          <a:prstGeom prst="rect">
            <a:avLst/>
          </a:prstGeom>
          <a:noFill/>
          <a:ln/>
        </p:spPr>
        <p:txBody>
          <a:bodyPr wrap="square" lIns="0" tIns="0" rIns="0" bIns="0" rtlCol="0" anchor="ctr"/>
          <a:lstStyle/>
          <a:p>
            <a:pPr marL="0" indent="0" algn="ctr">
              <a:buNone/>
            </a:pPr>
            <a:r>
              <a:rPr lang="en-US" sz="1900" dirty="0">
                <a:solidFill>
                  <a:srgbClr val="0F172A"/>
                </a:solidFill>
              </a:rPr>
              <a:t>ĝ = (1/N) Σi=1..N Σt=0..Ti−1 ∇θ log πθ(a(i)t | s(i)t) · G(i)t</a:t>
            </a:r>
            <a:endParaRPr lang="en-US" sz="1900" dirty="0"/>
          </a:p>
        </p:txBody>
      </p:sp>
      <p:sp>
        <p:nvSpPr>
          <p:cNvPr id="9" name="Text 7"/>
          <p:cNvSpPr/>
          <p:nvPr/>
        </p:nvSpPr>
        <p:spPr>
          <a:xfrm>
            <a:off x="868680" y="2743200"/>
            <a:ext cx="10424160" cy="2240280"/>
          </a:xfrm>
          <a:prstGeom prst="rect">
            <a:avLst/>
          </a:prstGeom>
          <a:noFill/>
          <a:ln/>
        </p:spPr>
        <p:txBody>
          <a:bodyPr wrap="square" lIns="254" tIns="254" rIns="254" bIns="254" rtlCol="0" anchor="t"/>
          <a:lstStyle/>
          <a:p>
            <a:pPr marL="177800" indent="-177800">
              <a:buSzPct val="100000"/>
              <a:buChar char="•"/>
            </a:pPr>
            <a:r>
              <a:rPr lang="en-US" sz="2000" dirty="0">
                <a:solidFill>
                  <a:srgbClr val="0F172A"/>
                </a:solidFill>
              </a:rPr>
              <a:t>Episode i is sampled by rolling out the current policy until termination.</a:t>
            </a:r>
            <a:endParaRPr lang="en-US" sz="2000" dirty="0"/>
          </a:p>
          <a:p>
            <a:pPr marL="177800" indent="-177800">
              <a:buSzPct val="100000"/>
              <a:buChar char="•"/>
            </a:pPr>
            <a:r>
              <a:rPr lang="en-US" sz="2000" dirty="0">
                <a:solidFill>
                  <a:srgbClr val="0F172A"/>
                </a:solidFill>
              </a:rPr>
              <a:t>For each timestep, compute Gt by summing discounted future rewards backward through the episode.</a:t>
            </a:r>
            <a:endParaRPr lang="en-US" sz="2000" dirty="0"/>
          </a:p>
          <a:p>
            <a:pPr marL="177800" indent="-177800">
              <a:buSzPct val="100000"/>
              <a:buChar char="•"/>
            </a:pPr>
            <a:r>
              <a:rPr lang="en-US" sz="2000" dirty="0">
                <a:solidFill>
                  <a:srgbClr val="0F172A"/>
                </a:solidFill>
              </a:rPr>
              <a:t>Average the contributions over all sampled episodes.</a:t>
            </a:r>
            <a:endParaRPr lang="en-US" sz="2000" dirty="0"/>
          </a:p>
          <a:p>
            <a:pPr marL="177800" indent="-177800">
              <a:buSzPct val="100000"/>
              <a:buChar char="•"/>
            </a:pPr>
            <a:r>
              <a:rPr lang="en-US" sz="2000" dirty="0">
                <a:solidFill>
                  <a:srgbClr val="0F172A"/>
                </a:solidFill>
              </a:rPr>
              <a:t>This is called Monte Carlo because it uses complete sampled trajectories and no bootstrapping.</a:t>
            </a:r>
            <a:endParaRPr lang="en-US" sz="2000" dirty="0"/>
          </a:p>
        </p:txBody>
      </p:sp>
      <p:sp>
        <p:nvSpPr>
          <p:cNvPr id="10" name="Shape 8"/>
          <p:cNvSpPr/>
          <p:nvPr/>
        </p:nvSpPr>
        <p:spPr>
          <a:xfrm>
            <a:off x="4297680" y="5257800"/>
            <a:ext cx="3474720" cy="822960"/>
          </a:xfrm>
          <a:prstGeom prst="roundRect">
            <a:avLst>
              <a:gd name="adj" fmla="val 6667"/>
            </a:avLst>
          </a:prstGeom>
          <a:solidFill>
            <a:srgbClr val="EEFDF3"/>
          </a:solidFill>
          <a:ln w="12700">
            <a:solidFill>
              <a:srgbClr val="CBD5E1"/>
            </a:solidFill>
            <a:prstDash val="solid"/>
          </a:ln>
        </p:spPr>
        <p:txBody>
          <a:bodyPr/>
          <a:lstStyle/>
          <a:p>
            <a:endParaRPr lang="en-US"/>
          </a:p>
        </p:txBody>
      </p:sp>
      <p:sp>
        <p:nvSpPr>
          <p:cNvPr id="11" name="Text 9"/>
          <p:cNvSpPr/>
          <p:nvPr/>
        </p:nvSpPr>
        <p:spPr>
          <a:xfrm>
            <a:off x="4462272" y="5367528"/>
            <a:ext cx="3145536" cy="219456"/>
          </a:xfrm>
          <a:prstGeom prst="rect">
            <a:avLst/>
          </a:prstGeom>
          <a:noFill/>
          <a:ln/>
        </p:spPr>
        <p:txBody>
          <a:bodyPr wrap="square" rtlCol="0" anchor="ctr"/>
          <a:lstStyle/>
          <a:p>
            <a:pPr marL="0" indent="0">
              <a:buNone/>
            </a:pPr>
            <a:r>
              <a:rPr lang="en-US" sz="1700" b="1" dirty="0">
                <a:solidFill>
                  <a:srgbClr val="1D4ED8"/>
                </a:solidFill>
              </a:rPr>
              <a:t>Parameter update</a:t>
            </a:r>
            <a:endParaRPr lang="en-US" sz="1700" dirty="0"/>
          </a:p>
        </p:txBody>
      </p:sp>
      <p:sp>
        <p:nvSpPr>
          <p:cNvPr id="12" name="Text 10"/>
          <p:cNvSpPr/>
          <p:nvPr/>
        </p:nvSpPr>
        <p:spPr>
          <a:xfrm>
            <a:off x="4462272" y="5660136"/>
            <a:ext cx="3145536" cy="256032"/>
          </a:xfrm>
          <a:prstGeom prst="rect">
            <a:avLst/>
          </a:prstGeom>
          <a:noFill/>
          <a:ln/>
        </p:spPr>
        <p:txBody>
          <a:bodyPr wrap="square" lIns="0" tIns="0" rIns="0" bIns="0" rtlCol="0" anchor="ctr"/>
          <a:lstStyle/>
          <a:p>
            <a:pPr marL="0" indent="0" algn="ctr">
              <a:buNone/>
            </a:pPr>
            <a:r>
              <a:rPr lang="en-US" sz="1900" dirty="0">
                <a:solidFill>
                  <a:srgbClr val="0F172A"/>
                </a:solidFill>
              </a:rPr>
              <a:t>θ ← θ + α ĝ</a:t>
            </a:r>
            <a:endParaRPr lang="en-US" sz="1900" dirty="0"/>
          </a:p>
        </p:txBody>
      </p:sp>
      <p:pic>
        <p:nvPicPr>
          <p:cNvPr id="15" name="Audio 14">
            <a:extLst>
              <a:ext uri="{FF2B5EF4-FFF2-40B4-BE49-F238E27FC236}">
                <a16:creationId xmlns:a16="http://schemas.microsoft.com/office/drawing/2014/main" id="{391B321F-2EAD-2348-3C2D-E957399D8DE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600"/>
    </mc:Choice>
    <mc:Fallback>
      <p:transition spd="slow" advTm="53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9. Why the PyTorch loss has a minus sign</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Frameworks minimize a loss, but RL wants to maximize expected return.</a:t>
            </a:r>
            <a:endParaRPr lang="en-US" sz="1350" dirty="0"/>
          </a:p>
        </p:txBody>
      </p:sp>
      <p:sp>
        <p:nvSpPr>
          <p:cNvPr id="6" name="Shape 4"/>
          <p:cNvSpPr/>
          <p:nvPr/>
        </p:nvSpPr>
        <p:spPr>
          <a:xfrm>
            <a:off x="731520" y="1508760"/>
            <a:ext cx="10789920" cy="914400"/>
          </a:xfrm>
          <a:prstGeom prst="roundRect">
            <a:avLst>
              <a:gd name="adj" fmla="val 6000"/>
            </a:avLst>
          </a:prstGeom>
          <a:solidFill>
            <a:srgbClr val="FEF2F2"/>
          </a:solidFill>
          <a:ln w="12700">
            <a:solidFill>
              <a:srgbClr val="CBD5E1"/>
            </a:solidFill>
            <a:prstDash val="solid"/>
          </a:ln>
        </p:spPr>
        <p:txBody>
          <a:bodyPr/>
          <a:lstStyle/>
          <a:p>
            <a:endParaRPr lang="en-US"/>
          </a:p>
        </p:txBody>
      </p:sp>
      <p:sp>
        <p:nvSpPr>
          <p:cNvPr id="7" name="Text 5"/>
          <p:cNvSpPr/>
          <p:nvPr/>
        </p:nvSpPr>
        <p:spPr>
          <a:xfrm>
            <a:off x="896112" y="1618488"/>
            <a:ext cx="10460736" cy="219456"/>
          </a:xfrm>
          <a:prstGeom prst="rect">
            <a:avLst/>
          </a:prstGeom>
          <a:noFill/>
          <a:ln/>
        </p:spPr>
        <p:txBody>
          <a:bodyPr wrap="square" rtlCol="0" anchor="ctr"/>
          <a:lstStyle/>
          <a:p>
            <a:pPr marL="0" indent="0">
              <a:buNone/>
            </a:pPr>
            <a:r>
              <a:rPr lang="en-US" sz="1700" b="1" dirty="0">
                <a:solidFill>
                  <a:srgbClr val="1D4ED8"/>
                </a:solidFill>
              </a:rPr>
              <a:t>Define the loss</a:t>
            </a:r>
            <a:endParaRPr lang="en-US" sz="1700" dirty="0"/>
          </a:p>
        </p:txBody>
      </p:sp>
      <p:sp>
        <p:nvSpPr>
          <p:cNvPr id="8" name="Text 6"/>
          <p:cNvSpPr/>
          <p:nvPr/>
        </p:nvSpPr>
        <p:spPr>
          <a:xfrm>
            <a:off x="896112" y="1911096"/>
            <a:ext cx="10460736" cy="256032"/>
          </a:xfrm>
          <a:prstGeom prst="rect">
            <a:avLst/>
          </a:prstGeom>
          <a:noFill/>
          <a:ln/>
        </p:spPr>
        <p:txBody>
          <a:bodyPr wrap="square" lIns="0" tIns="0" rIns="0" bIns="0" rtlCol="0" anchor="ctr"/>
          <a:lstStyle/>
          <a:p>
            <a:pPr marL="0" indent="0" algn="ctr">
              <a:buNone/>
            </a:pPr>
            <a:r>
              <a:rPr lang="en-US" sz="1900" dirty="0">
                <a:solidFill>
                  <a:srgbClr val="0F172A"/>
                </a:solidFill>
              </a:rPr>
              <a:t>L(θ) = (1/N) Σi Σt [ − log πθ(a(i)t | s(i)t) · G(i)t ]</a:t>
            </a:r>
            <a:endParaRPr lang="en-US" sz="1900" dirty="0"/>
          </a:p>
        </p:txBody>
      </p:sp>
      <p:sp>
        <p:nvSpPr>
          <p:cNvPr id="9" name="Shape 7"/>
          <p:cNvSpPr/>
          <p:nvPr/>
        </p:nvSpPr>
        <p:spPr>
          <a:xfrm>
            <a:off x="4023360" y="2926080"/>
            <a:ext cx="4023360" cy="777240"/>
          </a:xfrm>
          <a:prstGeom prst="roundRect">
            <a:avLst>
              <a:gd name="adj" fmla="val 7059"/>
            </a:avLst>
          </a:prstGeom>
          <a:solidFill>
            <a:srgbClr val="EFF6FF"/>
          </a:solidFill>
          <a:ln w="12700">
            <a:solidFill>
              <a:srgbClr val="CBD5E1"/>
            </a:solidFill>
            <a:prstDash val="solid"/>
          </a:ln>
        </p:spPr>
        <p:txBody>
          <a:bodyPr/>
          <a:lstStyle/>
          <a:p>
            <a:endParaRPr lang="en-US"/>
          </a:p>
        </p:txBody>
      </p:sp>
      <p:sp>
        <p:nvSpPr>
          <p:cNvPr id="10" name="Text 8"/>
          <p:cNvSpPr/>
          <p:nvPr/>
        </p:nvSpPr>
        <p:spPr>
          <a:xfrm>
            <a:off x="4187952" y="3035808"/>
            <a:ext cx="3694176" cy="219456"/>
          </a:xfrm>
          <a:prstGeom prst="rect">
            <a:avLst/>
          </a:prstGeom>
          <a:noFill/>
          <a:ln/>
        </p:spPr>
        <p:txBody>
          <a:bodyPr wrap="square" rtlCol="0" anchor="ctr"/>
          <a:lstStyle/>
          <a:p>
            <a:pPr marL="0" indent="0">
              <a:buNone/>
            </a:pPr>
            <a:r>
              <a:rPr lang="en-US" sz="1700" b="1" dirty="0">
                <a:solidFill>
                  <a:srgbClr val="1D4ED8"/>
                </a:solidFill>
              </a:rPr>
              <a:t>Differentiate</a:t>
            </a:r>
            <a:endParaRPr lang="en-US" sz="1700" dirty="0"/>
          </a:p>
        </p:txBody>
      </p:sp>
      <p:sp>
        <p:nvSpPr>
          <p:cNvPr id="11" name="Text 9"/>
          <p:cNvSpPr/>
          <p:nvPr/>
        </p:nvSpPr>
        <p:spPr>
          <a:xfrm>
            <a:off x="4187952" y="3328416"/>
            <a:ext cx="3694176" cy="256032"/>
          </a:xfrm>
          <a:prstGeom prst="rect">
            <a:avLst/>
          </a:prstGeom>
          <a:noFill/>
          <a:ln/>
        </p:spPr>
        <p:txBody>
          <a:bodyPr wrap="square" lIns="0" tIns="0" rIns="0" bIns="0" rtlCol="0" anchor="ctr"/>
          <a:lstStyle/>
          <a:p>
            <a:pPr marL="0" indent="0" algn="ctr">
              <a:buNone/>
            </a:pPr>
            <a:r>
              <a:rPr lang="en-US" sz="1900" dirty="0">
                <a:solidFill>
                  <a:srgbClr val="0F172A"/>
                </a:solidFill>
              </a:rPr>
              <a:t>∇θ L(θ) = − ĝ</a:t>
            </a:r>
            <a:endParaRPr lang="en-US" sz="1900" dirty="0"/>
          </a:p>
        </p:txBody>
      </p:sp>
      <p:sp>
        <p:nvSpPr>
          <p:cNvPr id="12" name="Shape 10"/>
          <p:cNvSpPr/>
          <p:nvPr/>
        </p:nvSpPr>
        <p:spPr>
          <a:xfrm>
            <a:off x="2743200" y="3977640"/>
            <a:ext cx="6583680" cy="822960"/>
          </a:xfrm>
          <a:prstGeom prst="roundRect">
            <a:avLst>
              <a:gd name="adj" fmla="val 6667"/>
            </a:avLst>
          </a:prstGeom>
          <a:solidFill>
            <a:srgbClr val="EEFDF3"/>
          </a:solidFill>
          <a:ln w="12700">
            <a:solidFill>
              <a:srgbClr val="CBD5E1"/>
            </a:solidFill>
            <a:prstDash val="solid"/>
          </a:ln>
        </p:spPr>
        <p:txBody>
          <a:bodyPr/>
          <a:lstStyle/>
          <a:p>
            <a:endParaRPr lang="en-US"/>
          </a:p>
        </p:txBody>
      </p:sp>
      <p:sp>
        <p:nvSpPr>
          <p:cNvPr id="13" name="Text 11"/>
          <p:cNvSpPr/>
          <p:nvPr/>
        </p:nvSpPr>
        <p:spPr>
          <a:xfrm>
            <a:off x="2907792" y="4087368"/>
            <a:ext cx="6254496" cy="219456"/>
          </a:xfrm>
          <a:prstGeom prst="rect">
            <a:avLst/>
          </a:prstGeom>
          <a:noFill/>
          <a:ln/>
        </p:spPr>
        <p:txBody>
          <a:bodyPr wrap="square" rtlCol="0" anchor="ctr"/>
          <a:lstStyle/>
          <a:p>
            <a:pPr marL="0" indent="0">
              <a:buNone/>
            </a:pPr>
            <a:r>
              <a:rPr lang="en-US" sz="1700" b="1" dirty="0">
                <a:solidFill>
                  <a:srgbClr val="1D4ED8"/>
                </a:solidFill>
              </a:rPr>
              <a:t>Gradient descent on L</a:t>
            </a:r>
            <a:endParaRPr lang="en-US" sz="1700" dirty="0"/>
          </a:p>
        </p:txBody>
      </p:sp>
      <p:sp>
        <p:nvSpPr>
          <p:cNvPr id="14" name="Text 12"/>
          <p:cNvSpPr/>
          <p:nvPr/>
        </p:nvSpPr>
        <p:spPr>
          <a:xfrm>
            <a:off x="2907792" y="4379976"/>
            <a:ext cx="6254496" cy="256032"/>
          </a:xfrm>
          <a:prstGeom prst="rect">
            <a:avLst/>
          </a:prstGeom>
          <a:noFill/>
          <a:ln/>
        </p:spPr>
        <p:txBody>
          <a:bodyPr wrap="square" lIns="0" tIns="0" rIns="0" bIns="0" rtlCol="0" anchor="ctr"/>
          <a:lstStyle/>
          <a:p>
            <a:pPr marL="0" indent="0" algn="ctr">
              <a:buNone/>
            </a:pPr>
            <a:r>
              <a:rPr lang="en-US" sz="1900" dirty="0">
                <a:solidFill>
                  <a:srgbClr val="0F172A"/>
                </a:solidFill>
              </a:rPr>
              <a:t>θ ← θ − α ∇θ L(θ) = θ + α ĝ</a:t>
            </a:r>
            <a:endParaRPr lang="en-US" sz="1900" dirty="0"/>
          </a:p>
        </p:txBody>
      </p:sp>
      <p:sp>
        <p:nvSpPr>
          <p:cNvPr id="15" name="Text 13"/>
          <p:cNvSpPr/>
          <p:nvPr/>
        </p:nvSpPr>
        <p:spPr>
          <a:xfrm>
            <a:off x="868680" y="5074920"/>
            <a:ext cx="10332720" cy="1033272"/>
          </a:xfrm>
          <a:prstGeom prst="rect">
            <a:avLst/>
          </a:prstGeom>
          <a:noFill/>
          <a:ln/>
        </p:spPr>
        <p:txBody>
          <a:bodyPr wrap="square" lIns="254" tIns="254" rIns="254" bIns="254" rtlCol="0" anchor="t"/>
          <a:lstStyle/>
          <a:p>
            <a:pPr marL="177800" indent="-177800">
              <a:buSzPct val="100000"/>
              <a:buChar char="•"/>
            </a:pPr>
            <a:r>
              <a:rPr lang="en-US" sz="1800" dirty="0">
                <a:solidFill>
                  <a:srgbClr val="0F172A"/>
                </a:solidFill>
              </a:rPr>
              <a:t>So minimizing this loss is exactly the same as doing gradient ascent on the RL objective.</a:t>
            </a:r>
            <a:endParaRPr lang="en-US" sz="1800" dirty="0"/>
          </a:p>
          <a:p>
            <a:pPr marL="177800" indent="-177800">
              <a:buSzPct val="100000"/>
              <a:buChar char="•"/>
            </a:pPr>
            <a:r>
              <a:rPr lang="en-US" sz="1800" dirty="0">
                <a:solidFill>
                  <a:srgbClr val="0F172A"/>
                </a:solidFill>
              </a:rPr>
              <a:t>That is why REINFORCE code usually looks like supervised learning code with a carefully chosen loss.</a:t>
            </a:r>
            <a:endParaRPr lang="en-US" sz="1800" dirty="0"/>
          </a:p>
        </p:txBody>
      </p:sp>
      <p:pic>
        <p:nvPicPr>
          <p:cNvPr id="18" name="Audio 17">
            <a:extLst>
              <a:ext uri="{FF2B5EF4-FFF2-40B4-BE49-F238E27FC236}">
                <a16:creationId xmlns:a16="http://schemas.microsoft.com/office/drawing/2014/main" id="{5FAE384C-552E-D8D8-D08A-85F8D0B4CE6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20"/>
    </mc:Choice>
    <mc:Fallback>
      <p:transition spd="slow" advTm="34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10. REINFORCE algorithm in one page</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This is the complete algorithmic loop we want the student to be able to reproduce.</a:t>
            </a:r>
            <a:endParaRPr lang="en-US" sz="1350" dirty="0"/>
          </a:p>
        </p:txBody>
      </p:sp>
      <p:sp>
        <p:nvSpPr>
          <p:cNvPr id="6" name="Shape 4"/>
          <p:cNvSpPr/>
          <p:nvPr/>
        </p:nvSpPr>
        <p:spPr>
          <a:xfrm>
            <a:off x="731520" y="1325880"/>
            <a:ext cx="5120640" cy="2743200"/>
          </a:xfrm>
          <a:prstGeom prst="roundRect">
            <a:avLst>
              <a:gd name="adj" fmla="val 2000"/>
            </a:avLst>
          </a:prstGeom>
          <a:solidFill>
            <a:srgbClr val="EEFDF3"/>
          </a:solidFill>
          <a:ln w="12700">
            <a:solidFill>
              <a:srgbClr val="CBD5E1"/>
            </a:solidFill>
            <a:prstDash val="solid"/>
          </a:ln>
        </p:spPr>
        <p:txBody>
          <a:bodyPr/>
          <a:lstStyle/>
          <a:p>
            <a:endParaRPr lang="en-US"/>
          </a:p>
        </p:txBody>
      </p:sp>
      <p:sp>
        <p:nvSpPr>
          <p:cNvPr id="7" name="Text 5"/>
          <p:cNvSpPr/>
          <p:nvPr/>
        </p:nvSpPr>
        <p:spPr>
          <a:xfrm>
            <a:off x="896112" y="1435608"/>
            <a:ext cx="4791456" cy="219456"/>
          </a:xfrm>
          <a:prstGeom prst="rect">
            <a:avLst/>
          </a:prstGeom>
          <a:noFill/>
          <a:ln/>
        </p:spPr>
        <p:txBody>
          <a:bodyPr wrap="square" rtlCol="0" anchor="ctr"/>
          <a:lstStyle/>
          <a:p>
            <a:pPr marL="0" indent="0">
              <a:buNone/>
            </a:pPr>
            <a:r>
              <a:rPr lang="en-US" sz="1700" b="1" dirty="0">
                <a:solidFill>
                  <a:srgbClr val="1D4ED8"/>
                </a:solidFill>
              </a:rPr>
              <a:t>Algorithm skeleton</a:t>
            </a:r>
            <a:endParaRPr lang="en-US" sz="1700" dirty="0"/>
          </a:p>
        </p:txBody>
      </p:sp>
      <p:sp>
        <p:nvSpPr>
          <p:cNvPr id="8" name="Text 6"/>
          <p:cNvSpPr/>
          <p:nvPr/>
        </p:nvSpPr>
        <p:spPr>
          <a:xfrm>
            <a:off x="896112" y="1728216"/>
            <a:ext cx="4791456" cy="256032"/>
          </a:xfrm>
          <a:prstGeom prst="rect">
            <a:avLst/>
          </a:prstGeom>
          <a:noFill/>
          <a:ln/>
        </p:spPr>
        <p:txBody>
          <a:bodyPr wrap="square" lIns="0" tIns="0" rIns="0" bIns="0" rtlCol="0" anchor="ctr"/>
          <a:lstStyle/>
          <a:p>
            <a:pPr marL="0" indent="0" algn="ctr">
              <a:buNone/>
            </a:pPr>
            <a:r>
              <a:rPr lang="en-US" sz="1900" dirty="0">
                <a:solidFill>
                  <a:srgbClr val="0F172A"/>
                </a:solidFill>
              </a:rPr>
              <a:t>1. Initialize policy parameters θ</a:t>
            </a:r>
            <a:endParaRPr lang="en-US" sz="1900" dirty="0"/>
          </a:p>
        </p:txBody>
      </p:sp>
      <p:sp>
        <p:nvSpPr>
          <p:cNvPr id="9" name="Text 7"/>
          <p:cNvSpPr/>
          <p:nvPr/>
        </p:nvSpPr>
        <p:spPr>
          <a:xfrm>
            <a:off x="896112" y="2075688"/>
            <a:ext cx="4791456" cy="256032"/>
          </a:xfrm>
          <a:prstGeom prst="rect">
            <a:avLst/>
          </a:prstGeom>
          <a:noFill/>
          <a:ln/>
        </p:spPr>
        <p:txBody>
          <a:bodyPr wrap="square" lIns="0" tIns="0" rIns="0" bIns="0" rtlCol="0" anchor="ctr"/>
          <a:lstStyle/>
          <a:p>
            <a:pPr marL="0" indent="0" algn="ctr">
              <a:buNone/>
            </a:pPr>
            <a:r>
              <a:rPr lang="en-US" sz="1900" dirty="0">
                <a:solidFill>
                  <a:srgbClr val="0F172A"/>
                </a:solidFill>
              </a:rPr>
              <a:t>2. Collect N full episodes using a_t ~ πθ(.|s_t)</a:t>
            </a:r>
            <a:endParaRPr lang="en-US" sz="1900" dirty="0"/>
          </a:p>
        </p:txBody>
      </p:sp>
      <p:sp>
        <p:nvSpPr>
          <p:cNvPr id="10" name="Text 8"/>
          <p:cNvSpPr/>
          <p:nvPr/>
        </p:nvSpPr>
        <p:spPr>
          <a:xfrm>
            <a:off x="896112" y="2423160"/>
            <a:ext cx="4791456" cy="256032"/>
          </a:xfrm>
          <a:prstGeom prst="rect">
            <a:avLst/>
          </a:prstGeom>
          <a:noFill/>
          <a:ln/>
        </p:spPr>
        <p:txBody>
          <a:bodyPr wrap="square" lIns="0" tIns="0" rIns="0" bIns="0" rtlCol="0" anchor="ctr"/>
          <a:lstStyle/>
          <a:p>
            <a:pPr marL="0" indent="0" algn="ctr">
              <a:buNone/>
            </a:pPr>
            <a:r>
              <a:rPr lang="en-US" sz="1900" dirty="0">
                <a:solidFill>
                  <a:srgbClr val="0F172A"/>
                </a:solidFill>
              </a:rPr>
              <a:t>3. For each episode, compute G_t backward</a:t>
            </a:r>
            <a:endParaRPr lang="en-US" sz="1900" dirty="0"/>
          </a:p>
        </p:txBody>
      </p:sp>
      <p:sp>
        <p:nvSpPr>
          <p:cNvPr id="11" name="Text 9"/>
          <p:cNvSpPr/>
          <p:nvPr/>
        </p:nvSpPr>
        <p:spPr>
          <a:xfrm>
            <a:off x="896112" y="2770632"/>
            <a:ext cx="4791456" cy="256032"/>
          </a:xfrm>
          <a:prstGeom prst="rect">
            <a:avLst/>
          </a:prstGeom>
          <a:noFill/>
          <a:ln/>
        </p:spPr>
        <p:txBody>
          <a:bodyPr wrap="square" lIns="0" tIns="0" rIns="0" bIns="0" rtlCol="0" anchor="ctr"/>
          <a:lstStyle/>
          <a:p>
            <a:pPr marL="0" indent="0" algn="ctr">
              <a:buNone/>
            </a:pPr>
            <a:r>
              <a:rPr lang="en-US" sz="1900" dirty="0">
                <a:solidFill>
                  <a:srgbClr val="0F172A"/>
                </a:solidFill>
              </a:rPr>
              <a:t>4. Build  L = (1/N) Σ_i Σ_t [ - log πθ(a_t|s_t) · G_t ]</a:t>
            </a:r>
            <a:endParaRPr lang="en-US" sz="1900" dirty="0"/>
          </a:p>
        </p:txBody>
      </p:sp>
      <p:sp>
        <p:nvSpPr>
          <p:cNvPr id="12" name="Text 10"/>
          <p:cNvSpPr/>
          <p:nvPr/>
        </p:nvSpPr>
        <p:spPr>
          <a:xfrm>
            <a:off x="896112" y="3118104"/>
            <a:ext cx="4791456" cy="256032"/>
          </a:xfrm>
          <a:prstGeom prst="rect">
            <a:avLst/>
          </a:prstGeom>
          <a:noFill/>
          <a:ln/>
        </p:spPr>
        <p:txBody>
          <a:bodyPr wrap="square" lIns="0" tIns="0" rIns="0" bIns="0" rtlCol="0" anchor="ctr"/>
          <a:lstStyle/>
          <a:p>
            <a:pPr marL="0" indent="0" algn="ctr">
              <a:buNone/>
            </a:pPr>
            <a:r>
              <a:rPr lang="en-US" sz="1900" dirty="0">
                <a:solidFill>
                  <a:srgbClr val="0F172A"/>
                </a:solidFill>
              </a:rPr>
              <a:t>5. Run backward() and optimizer.step()</a:t>
            </a:r>
            <a:endParaRPr lang="en-US" sz="1900" dirty="0"/>
          </a:p>
        </p:txBody>
      </p:sp>
      <p:sp>
        <p:nvSpPr>
          <p:cNvPr id="13" name="Text 11"/>
          <p:cNvSpPr/>
          <p:nvPr/>
        </p:nvSpPr>
        <p:spPr>
          <a:xfrm>
            <a:off x="896112" y="3465576"/>
            <a:ext cx="4791456" cy="256032"/>
          </a:xfrm>
          <a:prstGeom prst="rect">
            <a:avLst/>
          </a:prstGeom>
          <a:noFill/>
          <a:ln/>
        </p:spPr>
        <p:txBody>
          <a:bodyPr wrap="square" lIns="0" tIns="0" rIns="0" bIns="0" rtlCol="0" anchor="ctr"/>
          <a:lstStyle/>
          <a:p>
            <a:pPr marL="0" indent="0" algn="ctr">
              <a:buNone/>
            </a:pPr>
            <a:r>
              <a:rPr lang="en-US" sz="1900" dirty="0">
                <a:solidFill>
                  <a:srgbClr val="0F172A"/>
                </a:solidFill>
              </a:rPr>
              <a:t>6. Repeat</a:t>
            </a:r>
            <a:endParaRPr lang="en-US" sz="1900" dirty="0"/>
          </a:p>
        </p:txBody>
      </p:sp>
      <p:sp>
        <p:nvSpPr>
          <p:cNvPr id="14" name="Text 12"/>
          <p:cNvSpPr/>
          <p:nvPr/>
        </p:nvSpPr>
        <p:spPr>
          <a:xfrm>
            <a:off x="6217920" y="1554480"/>
            <a:ext cx="4937760" cy="1527048"/>
          </a:xfrm>
          <a:prstGeom prst="rect">
            <a:avLst/>
          </a:prstGeom>
          <a:noFill/>
          <a:ln/>
        </p:spPr>
        <p:txBody>
          <a:bodyPr wrap="square" lIns="254" tIns="254" rIns="254" bIns="254" rtlCol="0" anchor="t"/>
          <a:lstStyle/>
          <a:p>
            <a:pPr marL="177800" indent="-177800">
              <a:buSzPct val="100000"/>
              <a:buChar char="•"/>
            </a:pPr>
            <a:r>
              <a:rPr lang="en-US" sz="1800" dirty="0">
                <a:solidFill>
                  <a:srgbClr val="0F172A"/>
                </a:solidFill>
              </a:rPr>
              <a:t>The algorithm is on-policy: trajectories must be sampled from the current policy.</a:t>
            </a:r>
            <a:endParaRPr lang="en-US" sz="1800" dirty="0"/>
          </a:p>
          <a:p>
            <a:pPr marL="177800" indent="-177800">
              <a:buSzPct val="100000"/>
              <a:buChar char="•"/>
            </a:pPr>
            <a:r>
              <a:rPr lang="en-US" sz="1800" dirty="0">
                <a:solidFill>
                  <a:srgbClr val="0F172A"/>
                </a:solidFill>
              </a:rPr>
              <a:t>It is episodic: we wait until the episode finishes before computing returns.</a:t>
            </a:r>
            <a:endParaRPr lang="en-US" sz="1800" dirty="0"/>
          </a:p>
          <a:p>
            <a:pPr marL="177800" indent="-177800">
              <a:buSzPct val="100000"/>
              <a:buChar char="•"/>
            </a:pPr>
            <a:r>
              <a:rPr lang="en-US" sz="1800" dirty="0">
                <a:solidFill>
                  <a:srgbClr val="0F172A"/>
                </a:solidFill>
              </a:rPr>
              <a:t>It is Monte Carlo: the gradient estimate uses full sampled returns, not bootstrapped value targets.</a:t>
            </a:r>
            <a:endParaRPr lang="en-US" sz="1800" dirty="0"/>
          </a:p>
        </p:txBody>
      </p:sp>
      <p:sp>
        <p:nvSpPr>
          <p:cNvPr id="15" name="Shape 13"/>
          <p:cNvSpPr/>
          <p:nvPr/>
        </p:nvSpPr>
        <p:spPr>
          <a:xfrm>
            <a:off x="1737360" y="4892040"/>
            <a:ext cx="8778240" cy="868680"/>
          </a:xfrm>
          <a:prstGeom prst="roundRect">
            <a:avLst>
              <a:gd name="adj" fmla="val 6316"/>
            </a:avLst>
          </a:prstGeom>
          <a:solidFill>
            <a:srgbClr val="FEF2F2"/>
          </a:solidFill>
          <a:ln w="12700">
            <a:solidFill>
              <a:srgbClr val="CBD5E1"/>
            </a:solidFill>
            <a:prstDash val="solid"/>
          </a:ln>
        </p:spPr>
        <p:txBody>
          <a:bodyPr/>
          <a:lstStyle/>
          <a:p>
            <a:endParaRPr lang="en-US"/>
          </a:p>
        </p:txBody>
      </p:sp>
      <p:sp>
        <p:nvSpPr>
          <p:cNvPr id="16" name="Text 14"/>
          <p:cNvSpPr/>
          <p:nvPr/>
        </p:nvSpPr>
        <p:spPr>
          <a:xfrm>
            <a:off x="1901952" y="5001768"/>
            <a:ext cx="8449056" cy="219456"/>
          </a:xfrm>
          <a:prstGeom prst="rect">
            <a:avLst/>
          </a:prstGeom>
          <a:noFill/>
          <a:ln/>
        </p:spPr>
        <p:txBody>
          <a:bodyPr wrap="square" rtlCol="0" anchor="ctr"/>
          <a:lstStyle/>
          <a:p>
            <a:pPr marL="0" indent="0">
              <a:buNone/>
            </a:pPr>
            <a:r>
              <a:rPr lang="en-US" sz="1700" b="1" dirty="0">
                <a:solidFill>
                  <a:srgbClr val="1D4ED8"/>
                </a:solidFill>
              </a:rPr>
              <a:t>One-line loss</a:t>
            </a:r>
            <a:endParaRPr lang="en-US" sz="1700" dirty="0"/>
          </a:p>
        </p:txBody>
      </p:sp>
      <p:sp>
        <p:nvSpPr>
          <p:cNvPr id="17" name="Text 15"/>
          <p:cNvSpPr/>
          <p:nvPr/>
        </p:nvSpPr>
        <p:spPr>
          <a:xfrm>
            <a:off x="1901952" y="5294376"/>
            <a:ext cx="8449056" cy="256032"/>
          </a:xfrm>
          <a:prstGeom prst="rect">
            <a:avLst/>
          </a:prstGeom>
          <a:noFill/>
          <a:ln/>
        </p:spPr>
        <p:txBody>
          <a:bodyPr wrap="square" lIns="0" tIns="0" rIns="0" bIns="0" rtlCol="0" anchor="ctr"/>
          <a:lstStyle/>
          <a:p>
            <a:pPr marL="0" indent="0" algn="ctr">
              <a:buNone/>
            </a:pPr>
            <a:r>
              <a:rPr lang="en-US" sz="1900" dirty="0">
                <a:solidFill>
                  <a:srgbClr val="0F172A"/>
                </a:solidFill>
              </a:rPr>
              <a:t>L(θ) = (1/N) Σ_i Σ_t [ - log πθ(a(i)t|s(i)t) · G(i)t ]</a:t>
            </a:r>
            <a:endParaRPr lang="en-US" sz="1900" dirty="0"/>
          </a:p>
        </p:txBody>
      </p:sp>
      <p:pic>
        <p:nvPicPr>
          <p:cNvPr id="20" name="Audio 19">
            <a:extLst>
              <a:ext uri="{FF2B5EF4-FFF2-40B4-BE49-F238E27FC236}">
                <a16:creationId xmlns:a16="http://schemas.microsoft.com/office/drawing/2014/main" id="{89C2A155-2658-E50E-0D9C-8A25167C112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140"/>
    </mc:Choice>
    <mc:Fallback>
      <p:transition spd="slow" advTm="57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1</a:t>
            </a:r>
            <a:r>
              <a:rPr lang="en-US" altLang="zh-CN" sz="2800" b="1" dirty="0">
                <a:solidFill>
                  <a:srgbClr val="0F172A"/>
                </a:solidFill>
              </a:rPr>
              <a:t>1</a:t>
            </a:r>
            <a:r>
              <a:rPr lang="en-US" sz="2800" b="1" dirty="0">
                <a:solidFill>
                  <a:srgbClr val="0F172A"/>
                </a:solidFill>
              </a:rPr>
              <a:t>. PyTorch structure: where the math lives in the code</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High-level data flow of the attached implementation.</a:t>
            </a:r>
            <a:endParaRPr lang="en-US" sz="1350" dirty="0"/>
          </a:p>
        </p:txBody>
      </p:sp>
      <p:sp>
        <p:nvSpPr>
          <p:cNvPr id="6" name="Text 4"/>
          <p:cNvSpPr/>
          <p:nvPr/>
        </p:nvSpPr>
        <p:spPr>
          <a:xfrm>
            <a:off x="731520" y="1325880"/>
            <a:ext cx="5486400" cy="2240280"/>
          </a:xfrm>
          <a:prstGeom prst="rect">
            <a:avLst/>
          </a:prstGeom>
          <a:noFill/>
          <a:ln/>
        </p:spPr>
        <p:txBody>
          <a:bodyPr wrap="square" lIns="254" tIns="254" rIns="254" bIns="254" rtlCol="0" anchor="t"/>
          <a:lstStyle/>
          <a:p>
            <a:pPr marL="177800" indent="-177800">
              <a:buSzPct val="100000"/>
              <a:buChar char="•"/>
            </a:pPr>
            <a:r>
              <a:rPr lang="en-US" sz="2000" dirty="0">
                <a:solidFill>
                  <a:srgbClr val="0F172A"/>
                </a:solidFill>
              </a:rPr>
              <a:t>Policy network outputs πθ(.|st): the action probabilities.</a:t>
            </a:r>
            <a:endParaRPr lang="en-US" sz="2000" dirty="0"/>
          </a:p>
          <a:p>
            <a:pPr marL="177800" indent="-177800">
              <a:buSzPct val="100000"/>
              <a:buChar char="•"/>
            </a:pPr>
            <a:r>
              <a:rPr lang="en-US" sz="2000" dirty="0">
                <a:solidFill>
                  <a:srgbClr val="0F172A"/>
                </a:solidFill>
              </a:rPr>
              <a:t>Sampling loop creates a trajectory and stores log πθ(at|st) and rt for every timestep.</a:t>
            </a:r>
            <a:endParaRPr lang="en-US" sz="2000" dirty="0"/>
          </a:p>
          <a:p>
            <a:pPr marL="177800" indent="-177800">
              <a:buSzPct val="100000"/>
              <a:buChar char="•"/>
            </a:pPr>
            <a:r>
              <a:rPr lang="en-US" sz="2000" dirty="0">
                <a:solidFill>
                  <a:srgbClr val="0F172A"/>
                </a:solidFill>
              </a:rPr>
              <a:t>Trainer computes Gt by looping backward through each episode.</a:t>
            </a:r>
            <a:endParaRPr lang="en-US" sz="2000" dirty="0"/>
          </a:p>
          <a:p>
            <a:pPr marL="177800" indent="-177800">
              <a:buSzPct val="100000"/>
              <a:buChar char="•"/>
            </a:pPr>
            <a:r>
              <a:rPr lang="en-US" sz="2000" dirty="0">
                <a:solidFill>
                  <a:srgbClr val="0F172A"/>
                </a:solidFill>
              </a:rPr>
              <a:t>Loss sums − log πθ(at|st) · Gt, averages over episodes, then calls backward() and optimizer.step().</a:t>
            </a:r>
            <a:endParaRPr lang="en-US" sz="2000" dirty="0"/>
          </a:p>
        </p:txBody>
      </p:sp>
      <p:sp>
        <p:nvSpPr>
          <p:cNvPr id="7" name="Shape 5"/>
          <p:cNvSpPr/>
          <p:nvPr/>
        </p:nvSpPr>
        <p:spPr>
          <a:xfrm>
            <a:off x="6355080" y="1234440"/>
            <a:ext cx="5166360" cy="4480560"/>
          </a:xfrm>
          <a:prstGeom prst="roundRect">
            <a:avLst>
              <a:gd name="adj" fmla="val 1224"/>
            </a:avLst>
          </a:prstGeom>
          <a:solidFill>
            <a:srgbClr val="0B1220"/>
          </a:solidFill>
          <a:ln w="12700">
            <a:solidFill>
              <a:srgbClr val="0B1220"/>
            </a:solidFill>
            <a:prstDash val="solid"/>
          </a:ln>
        </p:spPr>
        <p:txBody>
          <a:bodyPr/>
          <a:lstStyle/>
          <a:p>
            <a:endParaRPr lang="en-US"/>
          </a:p>
        </p:txBody>
      </p:sp>
      <p:sp>
        <p:nvSpPr>
          <p:cNvPr id="8" name="Text 6"/>
          <p:cNvSpPr/>
          <p:nvPr/>
        </p:nvSpPr>
        <p:spPr>
          <a:xfrm>
            <a:off x="6519672" y="1307592"/>
            <a:ext cx="4892040" cy="219456"/>
          </a:xfrm>
          <a:prstGeom prst="rect">
            <a:avLst/>
          </a:prstGeom>
          <a:noFill/>
          <a:ln/>
        </p:spPr>
        <p:txBody>
          <a:bodyPr wrap="square" rtlCol="0" anchor="ctr"/>
          <a:lstStyle/>
          <a:p>
            <a:pPr marL="0" indent="0">
              <a:buNone/>
            </a:pPr>
            <a:r>
              <a:rPr lang="en-US" sz="1600" b="1" dirty="0">
                <a:solidFill>
                  <a:srgbClr val="D1FAE5"/>
                </a:solidFill>
              </a:rPr>
              <a:t>Policy + action sampling</a:t>
            </a:r>
            <a:endParaRPr lang="en-US" sz="1600" dirty="0"/>
          </a:p>
        </p:txBody>
      </p:sp>
      <p:sp>
        <p:nvSpPr>
          <p:cNvPr id="9" name="Text 7"/>
          <p:cNvSpPr/>
          <p:nvPr/>
        </p:nvSpPr>
        <p:spPr>
          <a:xfrm>
            <a:off x="6492240" y="1554480"/>
            <a:ext cx="4892040" cy="4069080"/>
          </a:xfrm>
          <a:prstGeom prst="rect">
            <a:avLst/>
          </a:prstGeom>
          <a:noFill/>
          <a:ln/>
        </p:spPr>
        <p:txBody>
          <a:bodyPr wrap="square" lIns="381" tIns="381" rIns="381" bIns="381" rtlCol="0" anchor="t"/>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66D9EF"/>
                </a:solidFill>
                <a:latin typeface="Consolas" pitchFamily="34" charset="0"/>
                <a:ea typeface="Consolas" pitchFamily="34" charset="-122"/>
                <a:cs typeface="Consolas" pitchFamily="34" charset="-120"/>
              </a:rPr>
              <a:t>class</a:t>
            </a:r>
            <a:r>
              <a:rPr lang="en-US" sz="1400" dirty="0">
                <a:solidFill>
                  <a:srgbClr val="FFFFFF"/>
                </a:solidFill>
                <a:latin typeface="Consolas" pitchFamily="34" charset="0"/>
                <a:ea typeface="Consolas" pitchFamily="34" charset="-122"/>
                <a:cs typeface="Consolas" pitchFamily="34" charset="-120"/>
              </a:rPr>
              <a:t> Policy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nn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Module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def</a:t>
            </a:r>
            <a:r>
              <a:rPr lang="en-US" sz="1400" dirty="0">
                <a:solidFill>
                  <a:srgbClr val="FFFFFF"/>
                </a:solidFill>
                <a:latin typeface="Consolas" pitchFamily="34" charset="0"/>
                <a:ea typeface="Consolas" pitchFamily="34" charset="-122"/>
                <a:cs typeface="Consolas" pitchFamily="34" charset="-120"/>
              </a:rPr>
              <a:t> forward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self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x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relu</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self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fc1</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probs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softmax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self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fc2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dim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probs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 sample action</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probs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s_tensor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dist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Categorical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probs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a_t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sample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log_prob_t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log_prob</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a_t</a:t>
            </a:r>
            <a:r>
              <a:rPr lang="en-US" sz="1400" dirty="0">
                <a:solidFill>
                  <a:srgbClr val="F8F8F2"/>
                </a:solidFill>
                <a:latin typeface="Consolas" pitchFamily="34" charset="0"/>
                <a:ea typeface="Consolas" pitchFamily="34" charset="-122"/>
                <a:cs typeface="Consolas" pitchFamily="34" charset="-120"/>
              </a:rPr>
              <a:t>)</a:t>
            </a:r>
            <a:endParaRPr lang="en-US" sz="1050" dirty="0"/>
          </a:p>
        </p:txBody>
      </p:sp>
      <p:pic>
        <p:nvPicPr>
          <p:cNvPr id="12" name="Audio 11">
            <a:extLst>
              <a:ext uri="{FF2B5EF4-FFF2-40B4-BE49-F238E27FC236}">
                <a16:creationId xmlns:a16="http://schemas.microsoft.com/office/drawing/2014/main" id="{C595FD31-CD89-86BB-BEAD-9F23024CC75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760"/>
    </mc:Choice>
    <mc:Fallback>
      <p:transition spd="slow" advTm="54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1</a:t>
            </a:r>
            <a:r>
              <a:rPr lang="en-US" altLang="zh-CN" sz="2800" b="1" dirty="0">
                <a:solidFill>
                  <a:srgbClr val="0F172A"/>
                </a:solidFill>
              </a:rPr>
              <a:t>2</a:t>
            </a:r>
            <a:r>
              <a:rPr lang="en-US" sz="2800" b="1" dirty="0">
                <a:solidFill>
                  <a:srgbClr val="0F172A"/>
                </a:solidFill>
              </a:rPr>
              <a:t>. Code walkthrough: collect one episode</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Each line constructs the sampled trajectory needed by the Monte Carlo estimator.</a:t>
            </a:r>
            <a:endParaRPr lang="en-US" sz="1350" dirty="0"/>
          </a:p>
        </p:txBody>
      </p:sp>
      <p:sp>
        <p:nvSpPr>
          <p:cNvPr id="6" name="Shape 4"/>
          <p:cNvSpPr/>
          <p:nvPr/>
        </p:nvSpPr>
        <p:spPr>
          <a:xfrm>
            <a:off x="640080" y="1325880"/>
            <a:ext cx="6492240" cy="4526280"/>
          </a:xfrm>
          <a:prstGeom prst="roundRect">
            <a:avLst>
              <a:gd name="adj" fmla="val 1212"/>
            </a:avLst>
          </a:prstGeom>
          <a:solidFill>
            <a:srgbClr val="0B1220"/>
          </a:solidFill>
          <a:ln w="12700">
            <a:solidFill>
              <a:srgbClr val="0B1220"/>
            </a:solidFill>
            <a:prstDash val="solid"/>
          </a:ln>
        </p:spPr>
        <p:txBody>
          <a:bodyPr/>
          <a:lstStyle/>
          <a:p>
            <a:endParaRPr lang="en-US"/>
          </a:p>
        </p:txBody>
      </p:sp>
      <p:sp>
        <p:nvSpPr>
          <p:cNvPr id="7" name="Text 5"/>
          <p:cNvSpPr/>
          <p:nvPr/>
        </p:nvSpPr>
        <p:spPr>
          <a:xfrm>
            <a:off x="804672" y="1399032"/>
            <a:ext cx="6217920" cy="219456"/>
          </a:xfrm>
          <a:prstGeom prst="rect">
            <a:avLst/>
          </a:prstGeom>
          <a:noFill/>
          <a:ln/>
        </p:spPr>
        <p:txBody>
          <a:bodyPr wrap="square" rtlCol="0" anchor="ctr"/>
          <a:lstStyle/>
          <a:p>
            <a:pPr marL="0" indent="0">
              <a:buNone/>
            </a:pPr>
            <a:r>
              <a:rPr lang="en-US" sz="1600" b="1" dirty="0">
                <a:solidFill>
                  <a:srgbClr val="D1FAE5"/>
                </a:solidFill>
              </a:rPr>
              <a:t>Episode collection</a:t>
            </a:r>
            <a:endParaRPr lang="en-US" sz="1600" dirty="0"/>
          </a:p>
        </p:txBody>
      </p:sp>
      <p:sp>
        <p:nvSpPr>
          <p:cNvPr id="8" name="Text 6"/>
          <p:cNvSpPr/>
          <p:nvPr/>
        </p:nvSpPr>
        <p:spPr>
          <a:xfrm>
            <a:off x="777240" y="1645920"/>
            <a:ext cx="6217920" cy="4114800"/>
          </a:xfrm>
          <a:prstGeom prst="rect">
            <a:avLst/>
          </a:prstGeom>
          <a:noFill/>
          <a:ln/>
        </p:spPr>
        <p:txBody>
          <a:bodyPr wrap="square" lIns="381" tIns="381" rIns="381" bIns="381" rtlCol="0" anchor="t"/>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s_t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_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env</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reset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ep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66D9EF"/>
                </a:solidFill>
                <a:latin typeface="Consolas" pitchFamily="34" charset="0"/>
                <a:ea typeface="Consolas" pitchFamily="34" charset="-122"/>
                <a:cs typeface="Consolas" pitchFamily="34" charset="-120"/>
              </a:rPr>
              <a:t>while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s_tensor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torch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from_numpy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float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probs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s_tensor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dist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Categorical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probs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a_t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sample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s_next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terminated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truncated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_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env</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step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item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log_prob_t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dist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log_prob</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13 </a:t>
            </a:r>
            <a:r>
              <a:rPr lang="en-US" sz="1400" dirty="0">
                <a:solidFill>
                  <a:srgbClr val="FFFFFF"/>
                </a:solidFill>
                <a:latin typeface="Consolas" pitchFamily="34" charset="0"/>
                <a:ea typeface="Consolas" pitchFamily="34" charset="-122"/>
                <a:cs typeface="Consolas" pitchFamily="34" charset="-120"/>
              </a:rPr>
              <a:t>    ep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append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log_prob_t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15 </a:t>
            </a:r>
            <a:r>
              <a:rPr lang="en-US" sz="1400" dirty="0">
                <a:solidFill>
                  <a:srgbClr val="FFFFFF"/>
                </a:solidFill>
                <a:latin typeface="Consolas" pitchFamily="34" charset="0"/>
                <a:ea typeface="Consolas" pitchFamily="34" charset="-122"/>
                <a:cs typeface="Consolas" pitchFamily="34" charset="-120"/>
              </a:rPr>
              <a:t>    s_t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s_next
</a:t>
            </a:r>
            <a:r>
              <a:rPr lang="en-US" sz="1400" dirty="0">
                <a:solidFill>
                  <a:srgbClr val="8292A2"/>
                </a:solidFill>
                <a:latin typeface="Consolas" pitchFamily="34" charset="0"/>
                <a:ea typeface="Consolas" pitchFamily="34" charset="-122"/>
                <a:cs typeface="Consolas" pitchFamily="34" charset="-120"/>
              </a:rPr>
              <a:t>16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if</a:t>
            </a:r>
            <a:r>
              <a:rPr lang="en-US" sz="1400" dirty="0">
                <a:solidFill>
                  <a:srgbClr val="FFFFFF"/>
                </a:solidFill>
                <a:latin typeface="Consolas" pitchFamily="34" charset="0"/>
                <a:ea typeface="Consolas" pitchFamily="34" charset="-122"/>
                <a:cs typeface="Consolas" pitchFamily="34" charset="-120"/>
              </a:rPr>
              <a:t> terminated </a:t>
            </a:r>
            <a:r>
              <a:rPr lang="en-US" sz="1400" dirty="0">
                <a:solidFill>
                  <a:srgbClr val="66D9EF"/>
                </a:solidFill>
                <a:latin typeface="Consolas" pitchFamily="34" charset="0"/>
                <a:ea typeface="Consolas" pitchFamily="34" charset="-122"/>
                <a:cs typeface="Consolas" pitchFamily="34" charset="-120"/>
              </a:rPr>
              <a:t>or</a:t>
            </a:r>
            <a:r>
              <a:rPr lang="en-US" sz="1400" dirty="0">
                <a:solidFill>
                  <a:srgbClr val="FFFFFF"/>
                </a:solidFill>
                <a:latin typeface="Consolas" pitchFamily="34" charset="0"/>
                <a:ea typeface="Consolas" pitchFamily="34" charset="-122"/>
                <a:cs typeface="Consolas" pitchFamily="34" charset="-120"/>
              </a:rPr>
              <a:t> truncated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break</a:t>
            </a:r>
            <a:endParaRPr lang="en-US" sz="1050" dirty="0"/>
          </a:p>
        </p:txBody>
      </p:sp>
      <p:sp>
        <p:nvSpPr>
          <p:cNvPr id="9" name="Text 7"/>
          <p:cNvSpPr/>
          <p:nvPr/>
        </p:nvSpPr>
        <p:spPr>
          <a:xfrm>
            <a:off x="7315200" y="1463040"/>
            <a:ext cx="4206240" cy="1911096"/>
          </a:xfrm>
          <a:prstGeom prst="rect">
            <a:avLst/>
          </a:prstGeom>
          <a:noFill/>
          <a:ln/>
        </p:spPr>
        <p:txBody>
          <a:bodyPr wrap="square" lIns="254" tIns="254" rIns="254" bIns="254" rtlCol="0" anchor="t"/>
          <a:lstStyle/>
          <a:p>
            <a:pPr marL="177800" indent="-177800">
              <a:buSzPct val="100000"/>
              <a:buChar char="•"/>
            </a:pPr>
            <a:r>
              <a:rPr lang="en-US" sz="1700" dirty="0">
                <a:solidFill>
                  <a:srgbClr val="0F172A"/>
                </a:solidFill>
              </a:rPr>
              <a:t>dist.sample() implements  at ~ πθ(.|st).</a:t>
            </a:r>
            <a:endParaRPr lang="en-US" sz="1700" dirty="0"/>
          </a:p>
          <a:p>
            <a:pPr marL="177800" indent="-177800">
              <a:buSzPct val="100000"/>
              <a:buChar char="•"/>
            </a:pPr>
            <a:r>
              <a:rPr lang="en-US" sz="1700" dirty="0">
                <a:solidFill>
                  <a:srgbClr val="0F172A"/>
                </a:solidFill>
              </a:rPr>
              <a:t>env.step(...) implements the environment transition  (st+1, rt) ~ P(.|st, at).</a:t>
            </a:r>
            <a:endParaRPr lang="en-US" sz="1700" dirty="0"/>
          </a:p>
          <a:p>
            <a:pPr marL="177800" indent="-177800">
              <a:buSzPct val="100000"/>
              <a:buChar char="•"/>
            </a:pPr>
            <a:r>
              <a:rPr lang="en-US" sz="1700" dirty="0">
                <a:solidFill>
                  <a:srgbClr val="0F172A"/>
                </a:solidFill>
              </a:rPr>
              <a:t>We save log_prob_t, not just the action, because the gradient formula uses ∇θ log πθ(at|st).</a:t>
            </a:r>
            <a:endParaRPr lang="en-US" sz="1700" dirty="0"/>
          </a:p>
          <a:p>
            <a:pPr marL="177800" indent="-177800">
              <a:buSzPct val="100000"/>
              <a:buChar char="•"/>
            </a:pPr>
            <a:r>
              <a:rPr lang="en-US" sz="1700" dirty="0">
                <a:solidFill>
                  <a:srgbClr val="0F172A"/>
                </a:solidFill>
              </a:rPr>
              <a:t>The episode list ep is exactly the sampled trajectory information needed later to build the loss.</a:t>
            </a:r>
            <a:endParaRPr lang="en-US" sz="1700" dirty="0"/>
          </a:p>
        </p:txBody>
      </p:sp>
      <p:pic>
        <p:nvPicPr>
          <p:cNvPr id="12" name="Audio 11">
            <a:extLst>
              <a:ext uri="{FF2B5EF4-FFF2-40B4-BE49-F238E27FC236}">
                <a16:creationId xmlns:a16="http://schemas.microsoft.com/office/drawing/2014/main" id="{B725E7E2-A423-FF77-C05C-9128497B9DE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020"/>
    </mc:Choice>
    <mc:Fallback>
      <p:transition spd="slow" advTm="67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1</a:t>
            </a:r>
            <a:r>
              <a:rPr lang="en-US" altLang="zh-CN" sz="2800" b="1" dirty="0">
                <a:solidFill>
                  <a:srgbClr val="0F172A"/>
                </a:solidFill>
              </a:rPr>
              <a:t>3</a:t>
            </a:r>
            <a:r>
              <a:rPr lang="en-US" sz="2800" b="1" dirty="0">
                <a:solidFill>
                  <a:srgbClr val="0F172A"/>
                </a:solidFill>
              </a:rPr>
              <a:t>. Code walkthrough: compute Gt and build the REINFORCE loss</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This is the implementation of the Monte Carlo estimator.</a:t>
            </a:r>
            <a:endParaRPr lang="en-US" sz="1350" dirty="0"/>
          </a:p>
        </p:txBody>
      </p:sp>
      <p:sp>
        <p:nvSpPr>
          <p:cNvPr id="6" name="Shape 4"/>
          <p:cNvSpPr/>
          <p:nvPr/>
        </p:nvSpPr>
        <p:spPr>
          <a:xfrm>
            <a:off x="594360" y="1280160"/>
            <a:ext cx="6720840" cy="4800600"/>
          </a:xfrm>
          <a:prstGeom prst="roundRect">
            <a:avLst>
              <a:gd name="adj" fmla="val 1143"/>
            </a:avLst>
          </a:prstGeom>
          <a:solidFill>
            <a:srgbClr val="0B1220"/>
          </a:solidFill>
          <a:ln w="12700">
            <a:solidFill>
              <a:srgbClr val="0B1220"/>
            </a:solidFill>
            <a:prstDash val="solid"/>
          </a:ln>
        </p:spPr>
        <p:txBody>
          <a:bodyPr/>
          <a:lstStyle/>
          <a:p>
            <a:endParaRPr lang="en-US"/>
          </a:p>
        </p:txBody>
      </p:sp>
      <p:sp>
        <p:nvSpPr>
          <p:cNvPr id="7" name="Text 5"/>
          <p:cNvSpPr/>
          <p:nvPr/>
        </p:nvSpPr>
        <p:spPr>
          <a:xfrm>
            <a:off x="758952" y="1353312"/>
            <a:ext cx="6446520" cy="219456"/>
          </a:xfrm>
          <a:prstGeom prst="rect">
            <a:avLst/>
          </a:prstGeom>
          <a:noFill/>
          <a:ln/>
        </p:spPr>
        <p:txBody>
          <a:bodyPr wrap="square" rtlCol="0" anchor="ctr"/>
          <a:lstStyle/>
          <a:p>
            <a:pPr marL="0" indent="0">
              <a:buNone/>
            </a:pPr>
            <a:r>
              <a:rPr lang="en-US" sz="1600" b="1" dirty="0">
                <a:solidFill>
                  <a:srgbClr val="D1FAE5"/>
                </a:solidFill>
              </a:rPr>
              <a:t>trainer.step(episodes)</a:t>
            </a:r>
            <a:endParaRPr lang="en-US" sz="1600" dirty="0"/>
          </a:p>
        </p:txBody>
      </p:sp>
      <p:sp>
        <p:nvSpPr>
          <p:cNvPr id="8" name="Text 6"/>
          <p:cNvSpPr/>
          <p:nvPr/>
        </p:nvSpPr>
        <p:spPr>
          <a:xfrm>
            <a:off x="731520" y="1600200"/>
            <a:ext cx="6446520" cy="4389120"/>
          </a:xfrm>
          <a:prstGeom prst="rect">
            <a:avLst/>
          </a:prstGeom>
          <a:noFill/>
          <a:ln/>
        </p:spPr>
        <p:txBody>
          <a:bodyPr wrap="square" lIns="381" tIns="381" rIns="381" bIns="381" rtlCol="0" anchor="t"/>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total_loss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0.0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len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episodes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66D9EF"/>
                </a:solidFill>
                <a:latin typeface="Consolas" pitchFamily="34" charset="0"/>
                <a:ea typeface="Consolas" pitchFamily="34" charset="-122"/>
                <a:cs typeface="Consolas" pitchFamily="34" charset="-120"/>
              </a:rPr>
              <a:t>for</a:t>
            </a:r>
            <a:r>
              <a:rPr lang="en-US" sz="1400" dirty="0">
                <a:solidFill>
                  <a:srgbClr val="FFFFFF"/>
                </a:solidFill>
                <a:latin typeface="Consolas" pitchFamily="34" charset="0"/>
                <a:ea typeface="Consolas" pitchFamily="34" charset="-122"/>
                <a:cs typeface="Consolas" pitchFamily="34" charset="-120"/>
              </a:rPr>
              <a:t> ep </a:t>
            </a:r>
            <a:r>
              <a:rPr lang="en-US" sz="1400" dirty="0">
                <a:solidFill>
                  <a:srgbClr val="66D9EF"/>
                </a:solidFill>
                <a:latin typeface="Consolas" pitchFamily="34" charset="0"/>
                <a:ea typeface="Consolas" pitchFamily="34" charset="-122"/>
                <a:cs typeface="Consolas" pitchFamily="34" charset="-120"/>
              </a:rPr>
              <a:t>in</a:t>
            </a:r>
            <a:r>
              <a:rPr lang="en-US" sz="1400" dirty="0">
                <a:solidFill>
                  <a:srgbClr val="FFFFFF"/>
                </a:solidFill>
                <a:latin typeface="Consolas" pitchFamily="34" charset="0"/>
                <a:ea typeface="Consolas" pitchFamily="34" charset="-122"/>
                <a:cs typeface="Consolas" pitchFamily="34" charset="-120"/>
              </a:rPr>
              <a:t> episodes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0.0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returns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for</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log_prob_t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in</a:t>
            </a:r>
            <a:r>
              <a:rPr lang="en-US" sz="1400" dirty="0">
                <a:solidFill>
                  <a:srgbClr val="FFFFFF"/>
                </a:solidFill>
                <a:latin typeface="Consolas" pitchFamily="34" charset="0"/>
                <a:ea typeface="Consolas" pitchFamily="34" charset="-122"/>
                <a:cs typeface="Consolas" pitchFamily="34" charset="-120"/>
              </a:rPr>
              <a:t> reversed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r_t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self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gamma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returns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append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returns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reverse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for</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log_prob_t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_</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G_t </a:t>
            </a:r>
            <a:r>
              <a:rPr lang="en-US" sz="1400" dirty="0">
                <a:solidFill>
                  <a:srgbClr val="66D9EF"/>
                </a:solidFill>
                <a:latin typeface="Consolas" pitchFamily="34" charset="0"/>
                <a:ea typeface="Consolas" pitchFamily="34" charset="-122"/>
                <a:cs typeface="Consolas" pitchFamily="34" charset="-120"/>
              </a:rPr>
              <a:t>in</a:t>
            </a:r>
            <a:r>
              <a:rPr lang="en-US" sz="1400" dirty="0">
                <a:solidFill>
                  <a:srgbClr val="FFFFFF"/>
                </a:solidFill>
                <a:latin typeface="Consolas" pitchFamily="34" charset="0"/>
                <a:ea typeface="Consolas" pitchFamily="34" charset="-122"/>
                <a:cs typeface="Consolas" pitchFamily="34" charset="-120"/>
              </a:rPr>
              <a:t> zip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returns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13 </a:t>
            </a:r>
            <a:r>
              <a:rPr lang="en-US" sz="1400" dirty="0">
                <a:solidFill>
                  <a:srgbClr val="FFFFFF"/>
                </a:solidFill>
                <a:latin typeface="Consolas" pitchFamily="34" charset="0"/>
                <a:ea typeface="Consolas" pitchFamily="34" charset="-122"/>
                <a:cs typeface="Consolas" pitchFamily="34" charset="-120"/>
              </a:rPr>
              <a:t>        total_loss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total_loss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log_prob_t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G_t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15 </a:t>
            </a:r>
            <a:r>
              <a:rPr lang="en-US" sz="1400" dirty="0">
                <a:solidFill>
                  <a:srgbClr val="FFFFFF"/>
                </a:solidFill>
                <a:latin typeface="Consolas" pitchFamily="34" charset="0"/>
                <a:ea typeface="Consolas" pitchFamily="34" charset="-122"/>
                <a:cs typeface="Consolas" pitchFamily="34" charset="-120"/>
              </a:rPr>
              <a:t>loss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total_loss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
</a:t>
            </a:r>
            <a:r>
              <a:rPr lang="en-US" sz="1400" dirty="0">
                <a:solidFill>
                  <a:srgbClr val="8292A2"/>
                </a:solidFill>
                <a:latin typeface="Consolas" pitchFamily="34" charset="0"/>
                <a:ea typeface="Consolas" pitchFamily="34" charset="-122"/>
                <a:cs typeface="Consolas" pitchFamily="34" charset="-120"/>
              </a:rPr>
              <a:t>16 </a:t>
            </a:r>
            <a:r>
              <a:rPr lang="en-US" sz="1400" dirty="0">
                <a:solidFill>
                  <a:srgbClr val="FFFFFF"/>
                </a:solidFill>
                <a:latin typeface="Consolas" pitchFamily="34" charset="0"/>
                <a:ea typeface="Consolas" pitchFamily="34" charset="-122"/>
                <a:cs typeface="Consolas" pitchFamily="34" charset="-120"/>
              </a:rPr>
              <a:t>loss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backward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17 </a:t>
            </a:r>
            <a:r>
              <a:rPr lang="en-US" sz="1400" dirty="0">
                <a:solidFill>
                  <a:srgbClr val="FFFFFF"/>
                </a:solidFill>
                <a:latin typeface="Consolas" pitchFamily="34" charset="0"/>
                <a:ea typeface="Consolas" pitchFamily="34" charset="-122"/>
                <a:cs typeface="Consolas" pitchFamily="34" charset="-120"/>
              </a:rPr>
              <a:t>self</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optimizer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step</a:t>
            </a:r>
            <a:r>
              <a:rPr lang="en-US" sz="1400" dirty="0">
                <a:solidFill>
                  <a:srgbClr val="F8F8F2"/>
                </a:solidFill>
                <a:latin typeface="Consolas" pitchFamily="34" charset="0"/>
                <a:ea typeface="Consolas" pitchFamily="34" charset="-122"/>
                <a:cs typeface="Consolas" pitchFamily="34" charset="-120"/>
              </a:rPr>
              <a:t>()</a:t>
            </a:r>
            <a:endParaRPr lang="en-US" sz="1050" dirty="0"/>
          </a:p>
        </p:txBody>
      </p:sp>
      <p:sp>
        <p:nvSpPr>
          <p:cNvPr id="9" name="Text 7"/>
          <p:cNvSpPr/>
          <p:nvPr/>
        </p:nvSpPr>
        <p:spPr>
          <a:xfrm>
            <a:off x="7406640" y="1463040"/>
            <a:ext cx="3977640" cy="1911096"/>
          </a:xfrm>
          <a:prstGeom prst="rect">
            <a:avLst/>
          </a:prstGeom>
          <a:noFill/>
          <a:ln/>
        </p:spPr>
        <p:txBody>
          <a:bodyPr wrap="square" lIns="254" tIns="254" rIns="254" bIns="254" rtlCol="0" anchor="t"/>
          <a:lstStyle/>
          <a:p>
            <a:pPr marL="177800" indent="-177800">
              <a:buSzPct val="100000"/>
              <a:buChar char="•"/>
            </a:pPr>
            <a:r>
              <a:rPr lang="en-US" sz="1700" dirty="0">
                <a:solidFill>
                  <a:srgbClr val="0F172A"/>
                </a:solidFill>
              </a:rPr>
              <a:t>Backward recursion R = r_t + γR computes return-to-go Gt efficiently.</a:t>
            </a:r>
            <a:endParaRPr lang="en-US" sz="1700" dirty="0"/>
          </a:p>
          <a:p>
            <a:pPr marL="177800" indent="-177800">
              <a:buSzPct val="100000"/>
              <a:buChar char="•"/>
            </a:pPr>
            <a:r>
              <a:rPr lang="en-US" sz="1700" dirty="0">
                <a:solidFill>
                  <a:srgbClr val="0F172A"/>
                </a:solidFill>
              </a:rPr>
              <a:t>The term −log_prob_t * G_t is one timestep contribution to the loss.</a:t>
            </a:r>
            <a:endParaRPr lang="en-US" sz="1700" dirty="0"/>
          </a:p>
          <a:p>
            <a:pPr marL="177800" indent="-177800">
              <a:buSzPct val="100000"/>
              <a:buChar char="•"/>
            </a:pPr>
            <a:r>
              <a:rPr lang="en-US" sz="1700" dirty="0">
                <a:solidFill>
                  <a:srgbClr val="0F172A"/>
                </a:solidFill>
              </a:rPr>
              <a:t>Dividing by N matches the (1/N) in the Monte Carlo average.</a:t>
            </a:r>
            <a:endParaRPr lang="en-US" sz="1700" dirty="0"/>
          </a:p>
          <a:p>
            <a:pPr marL="177800" indent="-177800">
              <a:buSzPct val="100000"/>
              <a:buChar char="•"/>
            </a:pPr>
            <a:r>
              <a:rPr lang="en-US" sz="1700" dirty="0">
                <a:solidFill>
                  <a:srgbClr val="0F172A"/>
                </a:solidFill>
              </a:rPr>
              <a:t>backward() computes ∇θL, and optimizer.step() performs gradient descent on L, which is ascent on J.</a:t>
            </a:r>
            <a:endParaRPr lang="en-US" sz="1700" dirty="0"/>
          </a:p>
        </p:txBody>
      </p:sp>
      <p:pic>
        <p:nvPicPr>
          <p:cNvPr id="12" name="Audio 11">
            <a:extLst>
              <a:ext uri="{FF2B5EF4-FFF2-40B4-BE49-F238E27FC236}">
                <a16:creationId xmlns:a16="http://schemas.microsoft.com/office/drawing/2014/main" id="{7F9606CA-8D92-D709-4BC2-E0544E03792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920"/>
    </mc:Choice>
    <mc:Fallback>
      <p:transition spd="slow" advTm="6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F172A"/>
          </a:solidFill>
          <a:ln w="12700">
            <a:solidFill>
              <a:srgbClr val="0F172A">
                <a:alpha val="0"/>
              </a:srgbClr>
            </a:solidFill>
            <a:prstDash val="solid"/>
          </a:ln>
        </p:spPr>
        <p:txBody>
          <a:bodyPr/>
          <a:lstStyle/>
          <a:p>
            <a:endParaRPr lang="en-US"/>
          </a:p>
        </p:txBody>
      </p:sp>
      <p:sp>
        <p:nvSpPr>
          <p:cNvPr id="3" name="Text 1"/>
          <p:cNvSpPr/>
          <p:nvPr/>
        </p:nvSpPr>
        <p:spPr>
          <a:xfrm>
            <a:off x="320040" y="73152"/>
            <a:ext cx="8686800" cy="164592"/>
          </a:xfrm>
          <a:prstGeom prst="rect">
            <a:avLst/>
          </a:prstGeom>
          <a:noFill/>
          <a:ln/>
        </p:spPr>
        <p:txBody>
          <a:bodyPr wrap="square" rtlCol="0" anchor="ctr"/>
          <a:lstStyle/>
          <a:p>
            <a:pPr marL="0" indent="0">
              <a:buNone/>
            </a:pPr>
            <a:r>
              <a:rPr lang="en-US" sz="2400" b="1" dirty="0">
                <a:solidFill>
                  <a:srgbClr val="FFFFFF"/>
                </a:solidFill>
              </a:rPr>
              <a:t>REINFORCE: mathematical derivation + PyTorch walkthrough</a:t>
            </a:r>
            <a:endParaRPr lang="en-US" sz="2400" dirty="0"/>
          </a:p>
        </p:txBody>
      </p:sp>
      <p:sp>
        <p:nvSpPr>
          <p:cNvPr id="4" name="Text 2"/>
          <p:cNvSpPr/>
          <p:nvPr/>
        </p:nvSpPr>
        <p:spPr>
          <a:xfrm>
            <a:off x="502920" y="530352"/>
            <a:ext cx="11064240" cy="384048"/>
          </a:xfrm>
          <a:prstGeom prst="rect">
            <a:avLst/>
          </a:prstGeom>
          <a:noFill/>
          <a:ln/>
        </p:spPr>
        <p:txBody>
          <a:bodyPr wrap="square" rtlCol="0" anchor="ctr"/>
          <a:lstStyle/>
          <a:p>
            <a:pPr marL="0" indent="0">
              <a:buNone/>
            </a:pPr>
            <a:r>
              <a:rPr lang="en-US" sz="2800" b="1" dirty="0">
                <a:solidFill>
                  <a:srgbClr val="0F172A"/>
                </a:solidFill>
              </a:rPr>
              <a:t>1</a:t>
            </a:r>
            <a:r>
              <a:rPr lang="en-US" altLang="zh-CN" sz="2800" b="1" dirty="0">
                <a:solidFill>
                  <a:srgbClr val="0F172A"/>
                </a:solidFill>
              </a:rPr>
              <a:t>4</a:t>
            </a:r>
            <a:r>
              <a:rPr lang="en-US" sz="2800" b="1" dirty="0">
                <a:solidFill>
                  <a:srgbClr val="0F172A"/>
                </a:solidFill>
              </a:rPr>
              <a:t>. Exact mapping from symbols to code</a:t>
            </a:r>
            <a:endParaRPr lang="en-US" sz="2800" dirty="0"/>
          </a:p>
        </p:txBody>
      </p:sp>
      <p:sp>
        <p:nvSpPr>
          <p:cNvPr id="5" name="Text 3"/>
          <p:cNvSpPr/>
          <p:nvPr/>
        </p:nvSpPr>
        <p:spPr>
          <a:xfrm>
            <a:off x="521208" y="914400"/>
            <a:ext cx="10789920" cy="256032"/>
          </a:xfrm>
          <a:prstGeom prst="rect">
            <a:avLst/>
          </a:prstGeom>
          <a:noFill/>
          <a:ln/>
        </p:spPr>
        <p:txBody>
          <a:bodyPr wrap="square" rtlCol="0" anchor="ctr"/>
          <a:lstStyle/>
          <a:p>
            <a:pPr marL="0" indent="0">
              <a:buNone/>
            </a:pPr>
            <a:r>
              <a:rPr lang="en-US" sz="1350" i="1" dirty="0">
                <a:solidFill>
                  <a:srgbClr val="475569"/>
                </a:solidFill>
              </a:rPr>
              <a:t>Use this slide while recording to keep the logic tight.</a:t>
            </a:r>
            <a:endParaRPr lang="en-US" sz="1350" dirty="0"/>
          </a:p>
        </p:txBody>
      </p:sp>
      <p:sp>
        <p:nvSpPr>
          <p:cNvPr id="6" name="Shape 4"/>
          <p:cNvSpPr/>
          <p:nvPr/>
        </p:nvSpPr>
        <p:spPr>
          <a:xfrm>
            <a:off x="640080" y="1325880"/>
            <a:ext cx="2560320" cy="4389120"/>
          </a:xfrm>
          <a:prstGeom prst="roundRect">
            <a:avLst>
              <a:gd name="adj" fmla="val 2143"/>
            </a:avLst>
          </a:prstGeom>
          <a:solidFill>
            <a:srgbClr val="EEFDF3"/>
          </a:solidFill>
          <a:ln w="12700">
            <a:solidFill>
              <a:srgbClr val="CBD5E1"/>
            </a:solidFill>
            <a:prstDash val="solid"/>
          </a:ln>
        </p:spPr>
        <p:txBody>
          <a:bodyPr/>
          <a:lstStyle/>
          <a:p>
            <a:endParaRPr lang="en-US"/>
          </a:p>
        </p:txBody>
      </p:sp>
      <p:sp>
        <p:nvSpPr>
          <p:cNvPr id="7" name="Text 5"/>
          <p:cNvSpPr/>
          <p:nvPr/>
        </p:nvSpPr>
        <p:spPr>
          <a:xfrm>
            <a:off x="804672" y="1435608"/>
            <a:ext cx="2231136" cy="219456"/>
          </a:xfrm>
          <a:prstGeom prst="rect">
            <a:avLst/>
          </a:prstGeom>
          <a:noFill/>
          <a:ln/>
        </p:spPr>
        <p:txBody>
          <a:bodyPr wrap="square" rtlCol="0" anchor="ctr"/>
          <a:lstStyle/>
          <a:p>
            <a:pPr marL="0" indent="0">
              <a:buNone/>
            </a:pPr>
            <a:r>
              <a:rPr lang="en-US" sz="1700" b="1" dirty="0">
                <a:solidFill>
                  <a:srgbClr val="1D4ED8"/>
                </a:solidFill>
              </a:rPr>
              <a:t>Math</a:t>
            </a:r>
            <a:endParaRPr lang="en-US" sz="1700" dirty="0"/>
          </a:p>
        </p:txBody>
      </p:sp>
      <p:sp>
        <p:nvSpPr>
          <p:cNvPr id="8" name="Text 6"/>
          <p:cNvSpPr/>
          <p:nvPr/>
        </p:nvSpPr>
        <p:spPr>
          <a:xfrm>
            <a:off x="804672" y="1728216"/>
            <a:ext cx="2231136" cy="256032"/>
          </a:xfrm>
          <a:prstGeom prst="rect">
            <a:avLst/>
          </a:prstGeom>
          <a:noFill/>
          <a:ln/>
        </p:spPr>
        <p:txBody>
          <a:bodyPr wrap="square" lIns="0" tIns="0" rIns="0" bIns="0" rtlCol="0" anchor="ctr"/>
          <a:lstStyle/>
          <a:p>
            <a:pPr marL="0" indent="0" algn="ctr">
              <a:buNone/>
            </a:pPr>
            <a:r>
              <a:rPr lang="en-US" sz="1900" dirty="0">
                <a:solidFill>
                  <a:srgbClr val="0F172A"/>
                </a:solidFill>
              </a:rPr>
              <a:t>πθ(a_t|s_t)</a:t>
            </a:r>
            <a:endParaRPr lang="en-US" sz="1900" dirty="0"/>
          </a:p>
        </p:txBody>
      </p:sp>
      <p:sp>
        <p:nvSpPr>
          <p:cNvPr id="9" name="Text 7"/>
          <p:cNvSpPr/>
          <p:nvPr/>
        </p:nvSpPr>
        <p:spPr>
          <a:xfrm>
            <a:off x="804672" y="2075688"/>
            <a:ext cx="2231136" cy="256032"/>
          </a:xfrm>
          <a:prstGeom prst="rect">
            <a:avLst/>
          </a:prstGeom>
          <a:noFill/>
          <a:ln/>
        </p:spPr>
        <p:txBody>
          <a:bodyPr wrap="square" lIns="0" tIns="0" rIns="0" bIns="0" rtlCol="0" anchor="ctr"/>
          <a:lstStyle/>
          <a:p>
            <a:pPr marL="0" indent="0" algn="ctr">
              <a:buNone/>
            </a:pPr>
            <a:r>
              <a:rPr lang="en-US" sz="1900" dirty="0">
                <a:solidFill>
                  <a:srgbClr val="0F172A"/>
                </a:solidFill>
              </a:rPr>
              <a:t>log πθ(a_t|s_t)</a:t>
            </a:r>
            <a:endParaRPr lang="en-US" sz="1900" dirty="0"/>
          </a:p>
        </p:txBody>
      </p:sp>
      <p:sp>
        <p:nvSpPr>
          <p:cNvPr id="10" name="Text 8"/>
          <p:cNvSpPr/>
          <p:nvPr/>
        </p:nvSpPr>
        <p:spPr>
          <a:xfrm>
            <a:off x="804672" y="2423160"/>
            <a:ext cx="2231136" cy="256032"/>
          </a:xfrm>
          <a:prstGeom prst="rect">
            <a:avLst/>
          </a:prstGeom>
          <a:noFill/>
          <a:ln/>
        </p:spPr>
        <p:txBody>
          <a:bodyPr wrap="square" lIns="0" tIns="0" rIns="0" bIns="0" rtlCol="0" anchor="ctr"/>
          <a:lstStyle/>
          <a:p>
            <a:pPr marL="0" indent="0" algn="ctr">
              <a:buNone/>
            </a:pPr>
            <a:r>
              <a:rPr lang="en-US" sz="1900" dirty="0">
                <a:solidFill>
                  <a:srgbClr val="0F172A"/>
                </a:solidFill>
              </a:rPr>
              <a:t>r_t</a:t>
            </a:r>
            <a:endParaRPr lang="en-US" sz="1900" dirty="0"/>
          </a:p>
        </p:txBody>
      </p:sp>
      <p:sp>
        <p:nvSpPr>
          <p:cNvPr id="11" name="Text 9"/>
          <p:cNvSpPr/>
          <p:nvPr/>
        </p:nvSpPr>
        <p:spPr>
          <a:xfrm>
            <a:off x="804672" y="2770632"/>
            <a:ext cx="2231136" cy="256032"/>
          </a:xfrm>
          <a:prstGeom prst="rect">
            <a:avLst/>
          </a:prstGeom>
          <a:noFill/>
          <a:ln/>
        </p:spPr>
        <p:txBody>
          <a:bodyPr wrap="square" lIns="0" tIns="0" rIns="0" bIns="0" rtlCol="0" anchor="ctr"/>
          <a:lstStyle/>
          <a:p>
            <a:pPr marL="0" indent="0" algn="ctr">
              <a:buNone/>
            </a:pPr>
            <a:r>
              <a:rPr lang="en-US" sz="1900" dirty="0">
                <a:solidFill>
                  <a:srgbClr val="0F172A"/>
                </a:solidFill>
              </a:rPr>
              <a:t>G_t</a:t>
            </a:r>
            <a:endParaRPr lang="en-US" sz="1900" dirty="0"/>
          </a:p>
        </p:txBody>
      </p:sp>
      <p:sp>
        <p:nvSpPr>
          <p:cNvPr id="12" name="Text 10"/>
          <p:cNvSpPr/>
          <p:nvPr/>
        </p:nvSpPr>
        <p:spPr>
          <a:xfrm>
            <a:off x="804672" y="3118104"/>
            <a:ext cx="2231136" cy="256032"/>
          </a:xfrm>
          <a:prstGeom prst="rect">
            <a:avLst/>
          </a:prstGeom>
          <a:noFill/>
          <a:ln/>
        </p:spPr>
        <p:txBody>
          <a:bodyPr wrap="square" lIns="0" tIns="0" rIns="0" bIns="0" rtlCol="0" anchor="ctr"/>
          <a:lstStyle/>
          <a:p>
            <a:pPr marL="0" indent="0" algn="ctr">
              <a:buNone/>
            </a:pPr>
            <a:r>
              <a:rPr lang="en-US" sz="1900" dirty="0">
                <a:solidFill>
                  <a:srgbClr val="0F172A"/>
                </a:solidFill>
              </a:rPr>
              <a:t>Σ_t [ - log πθ(a_t|s_t) G_t ]</a:t>
            </a:r>
            <a:endParaRPr lang="en-US" sz="1900" dirty="0"/>
          </a:p>
        </p:txBody>
      </p:sp>
      <p:sp>
        <p:nvSpPr>
          <p:cNvPr id="13" name="Text 11"/>
          <p:cNvSpPr/>
          <p:nvPr/>
        </p:nvSpPr>
        <p:spPr>
          <a:xfrm>
            <a:off x="804672" y="3465576"/>
            <a:ext cx="2231136" cy="256032"/>
          </a:xfrm>
          <a:prstGeom prst="rect">
            <a:avLst/>
          </a:prstGeom>
          <a:noFill/>
          <a:ln/>
        </p:spPr>
        <p:txBody>
          <a:bodyPr wrap="square" lIns="0" tIns="0" rIns="0" bIns="0" rtlCol="0" anchor="ctr"/>
          <a:lstStyle/>
          <a:p>
            <a:pPr marL="0" indent="0" algn="ctr">
              <a:buNone/>
            </a:pPr>
            <a:r>
              <a:rPr lang="en-US" sz="1900" dirty="0">
                <a:solidFill>
                  <a:srgbClr val="0F172A"/>
                </a:solidFill>
              </a:rPr>
              <a:t>(1/N) Σ_i</a:t>
            </a:r>
            <a:endParaRPr lang="en-US" sz="1900" dirty="0"/>
          </a:p>
        </p:txBody>
      </p:sp>
      <p:sp>
        <p:nvSpPr>
          <p:cNvPr id="14" name="Text 12"/>
          <p:cNvSpPr/>
          <p:nvPr/>
        </p:nvSpPr>
        <p:spPr>
          <a:xfrm>
            <a:off x="804672" y="3813048"/>
            <a:ext cx="2231136" cy="256032"/>
          </a:xfrm>
          <a:prstGeom prst="rect">
            <a:avLst/>
          </a:prstGeom>
          <a:noFill/>
          <a:ln/>
        </p:spPr>
        <p:txBody>
          <a:bodyPr wrap="square" lIns="0" tIns="0" rIns="0" bIns="0" rtlCol="0" anchor="ctr"/>
          <a:lstStyle/>
          <a:p>
            <a:pPr marL="0" indent="0" algn="ctr">
              <a:buNone/>
            </a:pPr>
            <a:r>
              <a:rPr lang="en-US" sz="1900" dirty="0">
                <a:solidFill>
                  <a:srgbClr val="0F172A"/>
                </a:solidFill>
              </a:rPr>
              <a:t>θ ← θ + α ĝ</a:t>
            </a:r>
            <a:endParaRPr lang="en-US" sz="1900" dirty="0"/>
          </a:p>
        </p:txBody>
      </p:sp>
      <p:sp>
        <p:nvSpPr>
          <p:cNvPr id="15" name="Shape 13"/>
          <p:cNvSpPr/>
          <p:nvPr/>
        </p:nvSpPr>
        <p:spPr>
          <a:xfrm>
            <a:off x="3474720" y="1325880"/>
            <a:ext cx="3566160" cy="4389120"/>
          </a:xfrm>
          <a:prstGeom prst="roundRect">
            <a:avLst>
              <a:gd name="adj" fmla="val 1538"/>
            </a:avLst>
          </a:prstGeom>
          <a:solidFill>
            <a:srgbClr val="FEFCE8"/>
          </a:solidFill>
          <a:ln w="12700">
            <a:solidFill>
              <a:srgbClr val="CBD5E1"/>
            </a:solidFill>
            <a:prstDash val="solid"/>
          </a:ln>
        </p:spPr>
        <p:txBody>
          <a:bodyPr/>
          <a:lstStyle/>
          <a:p>
            <a:endParaRPr lang="en-US"/>
          </a:p>
        </p:txBody>
      </p:sp>
      <p:sp>
        <p:nvSpPr>
          <p:cNvPr id="16" name="Text 14"/>
          <p:cNvSpPr/>
          <p:nvPr/>
        </p:nvSpPr>
        <p:spPr>
          <a:xfrm>
            <a:off x="3639312" y="1435608"/>
            <a:ext cx="3236976" cy="219456"/>
          </a:xfrm>
          <a:prstGeom prst="rect">
            <a:avLst/>
          </a:prstGeom>
          <a:noFill/>
          <a:ln/>
        </p:spPr>
        <p:txBody>
          <a:bodyPr wrap="square" rtlCol="0" anchor="ctr"/>
          <a:lstStyle/>
          <a:p>
            <a:pPr marL="0" indent="0">
              <a:buNone/>
            </a:pPr>
            <a:r>
              <a:rPr lang="en-US" sz="1700" b="1" dirty="0">
                <a:solidFill>
                  <a:srgbClr val="1D4ED8"/>
                </a:solidFill>
              </a:rPr>
              <a:t>Meaning</a:t>
            </a:r>
            <a:endParaRPr lang="en-US" sz="1700" dirty="0"/>
          </a:p>
        </p:txBody>
      </p:sp>
      <p:sp>
        <p:nvSpPr>
          <p:cNvPr id="17" name="Text 15"/>
          <p:cNvSpPr/>
          <p:nvPr/>
        </p:nvSpPr>
        <p:spPr>
          <a:xfrm>
            <a:off x="3639312" y="1728216"/>
            <a:ext cx="3236976" cy="256032"/>
          </a:xfrm>
          <a:prstGeom prst="rect">
            <a:avLst/>
          </a:prstGeom>
          <a:noFill/>
          <a:ln/>
        </p:spPr>
        <p:txBody>
          <a:bodyPr wrap="square" lIns="0" tIns="0" rIns="0" bIns="0" rtlCol="0" anchor="ctr"/>
          <a:lstStyle/>
          <a:p>
            <a:pPr marL="0" indent="0" algn="ctr">
              <a:buNone/>
            </a:pPr>
            <a:r>
              <a:rPr lang="en-US" sz="1900" dirty="0">
                <a:solidFill>
                  <a:srgbClr val="0F172A"/>
                </a:solidFill>
              </a:rPr>
              <a:t>probability of sampled action</a:t>
            </a:r>
            <a:endParaRPr lang="en-US" sz="1900" dirty="0"/>
          </a:p>
        </p:txBody>
      </p:sp>
      <p:sp>
        <p:nvSpPr>
          <p:cNvPr id="18" name="Text 16"/>
          <p:cNvSpPr/>
          <p:nvPr/>
        </p:nvSpPr>
        <p:spPr>
          <a:xfrm>
            <a:off x="3639312" y="2075688"/>
            <a:ext cx="3236976" cy="256032"/>
          </a:xfrm>
          <a:prstGeom prst="rect">
            <a:avLst/>
          </a:prstGeom>
          <a:noFill/>
          <a:ln/>
        </p:spPr>
        <p:txBody>
          <a:bodyPr wrap="square" lIns="0" tIns="0" rIns="0" bIns="0" rtlCol="0" anchor="ctr"/>
          <a:lstStyle/>
          <a:p>
            <a:pPr marL="0" indent="0" algn="ctr">
              <a:buNone/>
            </a:pPr>
            <a:r>
              <a:rPr lang="en-US" sz="1900" dirty="0">
                <a:solidFill>
                  <a:srgbClr val="0F172A"/>
                </a:solidFill>
              </a:rPr>
              <a:t>autograd-differentiated log term</a:t>
            </a:r>
            <a:endParaRPr lang="en-US" sz="1900" dirty="0"/>
          </a:p>
        </p:txBody>
      </p:sp>
      <p:sp>
        <p:nvSpPr>
          <p:cNvPr id="19" name="Text 17"/>
          <p:cNvSpPr/>
          <p:nvPr/>
        </p:nvSpPr>
        <p:spPr>
          <a:xfrm>
            <a:off x="3639312" y="2423160"/>
            <a:ext cx="3236976" cy="256032"/>
          </a:xfrm>
          <a:prstGeom prst="rect">
            <a:avLst/>
          </a:prstGeom>
          <a:noFill/>
          <a:ln/>
        </p:spPr>
        <p:txBody>
          <a:bodyPr wrap="square" lIns="0" tIns="0" rIns="0" bIns="0" rtlCol="0" anchor="ctr"/>
          <a:lstStyle/>
          <a:p>
            <a:pPr marL="0" indent="0" algn="ctr">
              <a:buNone/>
            </a:pPr>
            <a:r>
              <a:rPr lang="en-US" sz="1900" dirty="0">
                <a:solidFill>
                  <a:srgbClr val="0F172A"/>
                </a:solidFill>
              </a:rPr>
              <a:t>reward at time t</a:t>
            </a:r>
            <a:endParaRPr lang="en-US" sz="1900" dirty="0"/>
          </a:p>
        </p:txBody>
      </p:sp>
      <p:sp>
        <p:nvSpPr>
          <p:cNvPr id="20" name="Text 18"/>
          <p:cNvSpPr/>
          <p:nvPr/>
        </p:nvSpPr>
        <p:spPr>
          <a:xfrm>
            <a:off x="3639312" y="2770632"/>
            <a:ext cx="3236976" cy="256032"/>
          </a:xfrm>
          <a:prstGeom prst="rect">
            <a:avLst/>
          </a:prstGeom>
          <a:noFill/>
          <a:ln/>
        </p:spPr>
        <p:txBody>
          <a:bodyPr wrap="square" lIns="0" tIns="0" rIns="0" bIns="0" rtlCol="0" anchor="ctr"/>
          <a:lstStyle/>
          <a:p>
            <a:pPr marL="0" indent="0" algn="ctr">
              <a:buNone/>
            </a:pPr>
            <a:r>
              <a:rPr lang="en-US" sz="1900" dirty="0">
                <a:solidFill>
                  <a:srgbClr val="0F172A"/>
                </a:solidFill>
              </a:rPr>
              <a:t>discounted return-to-go</a:t>
            </a:r>
            <a:endParaRPr lang="en-US" sz="1900" dirty="0"/>
          </a:p>
        </p:txBody>
      </p:sp>
      <p:sp>
        <p:nvSpPr>
          <p:cNvPr id="21" name="Text 19"/>
          <p:cNvSpPr/>
          <p:nvPr/>
        </p:nvSpPr>
        <p:spPr>
          <a:xfrm>
            <a:off x="3639312" y="3118104"/>
            <a:ext cx="3236976" cy="256032"/>
          </a:xfrm>
          <a:prstGeom prst="rect">
            <a:avLst/>
          </a:prstGeom>
          <a:noFill/>
          <a:ln/>
        </p:spPr>
        <p:txBody>
          <a:bodyPr wrap="square" lIns="0" tIns="0" rIns="0" bIns="0" rtlCol="0" anchor="ctr"/>
          <a:lstStyle/>
          <a:p>
            <a:pPr marL="0" indent="0" algn="ctr">
              <a:buNone/>
            </a:pPr>
            <a:r>
              <a:rPr lang="en-US" sz="1900" dirty="0">
                <a:solidFill>
                  <a:srgbClr val="0F172A"/>
                </a:solidFill>
              </a:rPr>
              <a:t>episode loss contribution</a:t>
            </a:r>
            <a:endParaRPr lang="en-US" sz="1900" dirty="0"/>
          </a:p>
        </p:txBody>
      </p:sp>
      <p:sp>
        <p:nvSpPr>
          <p:cNvPr id="22" name="Text 20"/>
          <p:cNvSpPr/>
          <p:nvPr/>
        </p:nvSpPr>
        <p:spPr>
          <a:xfrm>
            <a:off x="3639312" y="3465576"/>
            <a:ext cx="3236976" cy="256032"/>
          </a:xfrm>
          <a:prstGeom prst="rect">
            <a:avLst/>
          </a:prstGeom>
          <a:noFill/>
          <a:ln/>
        </p:spPr>
        <p:txBody>
          <a:bodyPr wrap="square" lIns="0" tIns="0" rIns="0" bIns="0" rtlCol="0" anchor="ctr"/>
          <a:lstStyle/>
          <a:p>
            <a:pPr marL="0" indent="0" algn="ctr">
              <a:buNone/>
            </a:pPr>
            <a:r>
              <a:rPr lang="en-US" sz="1900" dirty="0">
                <a:solidFill>
                  <a:srgbClr val="0F172A"/>
                </a:solidFill>
              </a:rPr>
              <a:t>average over sampled episodes</a:t>
            </a:r>
            <a:endParaRPr lang="en-US" sz="1900" dirty="0"/>
          </a:p>
        </p:txBody>
      </p:sp>
      <p:sp>
        <p:nvSpPr>
          <p:cNvPr id="23" name="Text 21"/>
          <p:cNvSpPr/>
          <p:nvPr/>
        </p:nvSpPr>
        <p:spPr>
          <a:xfrm>
            <a:off x="3639312" y="3813048"/>
            <a:ext cx="3236976" cy="256032"/>
          </a:xfrm>
          <a:prstGeom prst="rect">
            <a:avLst/>
          </a:prstGeom>
          <a:noFill/>
          <a:ln/>
        </p:spPr>
        <p:txBody>
          <a:bodyPr wrap="square" lIns="0" tIns="0" rIns="0" bIns="0" rtlCol="0" anchor="ctr"/>
          <a:lstStyle/>
          <a:p>
            <a:pPr marL="0" indent="0" algn="ctr">
              <a:buNone/>
            </a:pPr>
            <a:r>
              <a:rPr lang="en-US" sz="1900" dirty="0">
                <a:solidFill>
                  <a:srgbClr val="0F172A"/>
                </a:solidFill>
              </a:rPr>
              <a:t>policy-gradient update</a:t>
            </a:r>
            <a:endParaRPr lang="en-US" sz="1900" dirty="0"/>
          </a:p>
        </p:txBody>
      </p:sp>
      <p:sp>
        <p:nvSpPr>
          <p:cNvPr id="24" name="Shape 22"/>
          <p:cNvSpPr/>
          <p:nvPr/>
        </p:nvSpPr>
        <p:spPr>
          <a:xfrm>
            <a:off x="7315200" y="1325880"/>
            <a:ext cx="4206240" cy="4389120"/>
          </a:xfrm>
          <a:prstGeom prst="roundRect">
            <a:avLst>
              <a:gd name="adj" fmla="val 1304"/>
            </a:avLst>
          </a:prstGeom>
          <a:solidFill>
            <a:srgbClr val="EEFDF3"/>
          </a:solidFill>
          <a:ln w="12700">
            <a:solidFill>
              <a:srgbClr val="CBD5E1"/>
            </a:solidFill>
            <a:prstDash val="solid"/>
          </a:ln>
        </p:spPr>
        <p:txBody>
          <a:bodyPr/>
          <a:lstStyle/>
          <a:p>
            <a:endParaRPr lang="en-US"/>
          </a:p>
        </p:txBody>
      </p:sp>
      <p:sp>
        <p:nvSpPr>
          <p:cNvPr id="25" name="Text 23"/>
          <p:cNvSpPr/>
          <p:nvPr/>
        </p:nvSpPr>
        <p:spPr>
          <a:xfrm>
            <a:off x="7479792" y="1435608"/>
            <a:ext cx="3877056" cy="219456"/>
          </a:xfrm>
          <a:prstGeom prst="rect">
            <a:avLst/>
          </a:prstGeom>
          <a:noFill/>
          <a:ln/>
        </p:spPr>
        <p:txBody>
          <a:bodyPr wrap="square" rtlCol="0" anchor="ctr"/>
          <a:lstStyle/>
          <a:p>
            <a:pPr marL="0" indent="0">
              <a:buNone/>
            </a:pPr>
            <a:r>
              <a:rPr lang="en-US" sz="1700" b="1" dirty="0">
                <a:solidFill>
                  <a:srgbClr val="1D4ED8"/>
                </a:solidFill>
              </a:rPr>
              <a:t>Code</a:t>
            </a:r>
            <a:endParaRPr lang="en-US" sz="1700" dirty="0"/>
          </a:p>
        </p:txBody>
      </p:sp>
      <p:sp>
        <p:nvSpPr>
          <p:cNvPr id="26" name="Text 24"/>
          <p:cNvSpPr/>
          <p:nvPr/>
        </p:nvSpPr>
        <p:spPr>
          <a:xfrm>
            <a:off x="7479792" y="1728216"/>
            <a:ext cx="3877056" cy="256032"/>
          </a:xfrm>
          <a:prstGeom prst="rect">
            <a:avLst/>
          </a:prstGeom>
          <a:noFill/>
          <a:ln/>
        </p:spPr>
        <p:txBody>
          <a:bodyPr wrap="square" lIns="0" tIns="0" rIns="0" bIns="0" rtlCol="0" anchor="ctr"/>
          <a:lstStyle/>
          <a:p>
            <a:pPr marL="0" indent="0" algn="ctr">
              <a:buNone/>
            </a:pPr>
            <a:r>
              <a:rPr lang="en-US" sz="1900" dirty="0">
                <a:solidFill>
                  <a:srgbClr val="0F172A"/>
                </a:solidFill>
              </a:rPr>
              <a:t>dist = Categorical(probs)</a:t>
            </a:r>
            <a:endParaRPr lang="en-US" sz="1900" dirty="0"/>
          </a:p>
        </p:txBody>
      </p:sp>
      <p:sp>
        <p:nvSpPr>
          <p:cNvPr id="27" name="Text 25"/>
          <p:cNvSpPr/>
          <p:nvPr/>
        </p:nvSpPr>
        <p:spPr>
          <a:xfrm>
            <a:off x="7479792" y="2075688"/>
            <a:ext cx="3877056" cy="256032"/>
          </a:xfrm>
          <a:prstGeom prst="rect">
            <a:avLst/>
          </a:prstGeom>
          <a:noFill/>
          <a:ln/>
        </p:spPr>
        <p:txBody>
          <a:bodyPr wrap="square" lIns="0" tIns="0" rIns="0" bIns="0" rtlCol="0" anchor="ctr"/>
          <a:lstStyle/>
          <a:p>
            <a:pPr marL="0" indent="0" algn="ctr">
              <a:buNone/>
            </a:pPr>
            <a:r>
              <a:rPr lang="en-US" sz="1900" dirty="0">
                <a:solidFill>
                  <a:srgbClr val="0F172A"/>
                </a:solidFill>
              </a:rPr>
              <a:t>log_prob_t = dist.log_prob(a_t)</a:t>
            </a:r>
            <a:endParaRPr lang="en-US" sz="1900" dirty="0"/>
          </a:p>
        </p:txBody>
      </p:sp>
      <p:sp>
        <p:nvSpPr>
          <p:cNvPr id="28" name="Text 26"/>
          <p:cNvSpPr/>
          <p:nvPr/>
        </p:nvSpPr>
        <p:spPr>
          <a:xfrm>
            <a:off x="7479792" y="2423160"/>
            <a:ext cx="3877056" cy="256032"/>
          </a:xfrm>
          <a:prstGeom prst="rect">
            <a:avLst/>
          </a:prstGeom>
          <a:noFill/>
          <a:ln/>
        </p:spPr>
        <p:txBody>
          <a:bodyPr wrap="square" lIns="0" tIns="0" rIns="0" bIns="0" rtlCol="0" anchor="ctr"/>
          <a:lstStyle/>
          <a:p>
            <a:pPr marL="0" indent="0" algn="ctr">
              <a:buNone/>
            </a:pPr>
            <a:r>
              <a:rPr lang="en-US" sz="1900" dirty="0">
                <a:solidFill>
                  <a:srgbClr val="0F172A"/>
                </a:solidFill>
              </a:rPr>
              <a:t>..., r_t, ... = env.step(...)</a:t>
            </a:r>
            <a:endParaRPr lang="en-US" sz="1900" dirty="0"/>
          </a:p>
        </p:txBody>
      </p:sp>
      <p:sp>
        <p:nvSpPr>
          <p:cNvPr id="29" name="Text 27"/>
          <p:cNvSpPr/>
          <p:nvPr/>
        </p:nvSpPr>
        <p:spPr>
          <a:xfrm>
            <a:off x="7479792" y="2770632"/>
            <a:ext cx="3877056" cy="256032"/>
          </a:xfrm>
          <a:prstGeom prst="rect">
            <a:avLst/>
          </a:prstGeom>
          <a:noFill/>
          <a:ln/>
        </p:spPr>
        <p:txBody>
          <a:bodyPr wrap="square" lIns="0" tIns="0" rIns="0" bIns="0" rtlCol="0" anchor="ctr"/>
          <a:lstStyle/>
          <a:p>
            <a:pPr marL="0" indent="0" algn="ctr">
              <a:buNone/>
            </a:pPr>
            <a:r>
              <a:rPr lang="en-US" sz="1900" dirty="0">
                <a:solidFill>
                  <a:srgbClr val="0F172A"/>
                </a:solidFill>
              </a:rPr>
              <a:t>R = r_t + gamma * R</a:t>
            </a:r>
            <a:endParaRPr lang="en-US" sz="1900" dirty="0"/>
          </a:p>
        </p:txBody>
      </p:sp>
      <p:sp>
        <p:nvSpPr>
          <p:cNvPr id="30" name="Text 28"/>
          <p:cNvSpPr/>
          <p:nvPr/>
        </p:nvSpPr>
        <p:spPr>
          <a:xfrm>
            <a:off x="7479792" y="3118104"/>
            <a:ext cx="3877056" cy="256032"/>
          </a:xfrm>
          <a:prstGeom prst="rect">
            <a:avLst/>
          </a:prstGeom>
          <a:noFill/>
          <a:ln/>
        </p:spPr>
        <p:txBody>
          <a:bodyPr wrap="square" lIns="0" tIns="0" rIns="0" bIns="0" rtlCol="0" anchor="ctr"/>
          <a:lstStyle/>
          <a:p>
            <a:pPr marL="0" indent="0" algn="ctr">
              <a:buNone/>
            </a:pPr>
            <a:r>
              <a:rPr lang="en-US" sz="1900" dirty="0">
                <a:solidFill>
                  <a:srgbClr val="0F172A"/>
                </a:solidFill>
              </a:rPr>
              <a:t>total_loss += (-log_prob_t * G_t)</a:t>
            </a:r>
            <a:endParaRPr lang="en-US" sz="1900" dirty="0"/>
          </a:p>
        </p:txBody>
      </p:sp>
      <p:sp>
        <p:nvSpPr>
          <p:cNvPr id="31" name="Text 29"/>
          <p:cNvSpPr/>
          <p:nvPr/>
        </p:nvSpPr>
        <p:spPr>
          <a:xfrm>
            <a:off x="7479792" y="3465576"/>
            <a:ext cx="3877056" cy="256032"/>
          </a:xfrm>
          <a:prstGeom prst="rect">
            <a:avLst/>
          </a:prstGeom>
          <a:noFill/>
          <a:ln/>
        </p:spPr>
        <p:txBody>
          <a:bodyPr wrap="square" lIns="0" tIns="0" rIns="0" bIns="0" rtlCol="0" anchor="ctr"/>
          <a:lstStyle/>
          <a:p>
            <a:pPr marL="0" indent="0" algn="ctr">
              <a:buNone/>
            </a:pPr>
            <a:r>
              <a:rPr lang="en-US" sz="1900" dirty="0">
                <a:solidFill>
                  <a:srgbClr val="0F172A"/>
                </a:solidFill>
              </a:rPr>
              <a:t>loss = total_loss / N</a:t>
            </a:r>
            <a:endParaRPr lang="en-US" sz="1900" dirty="0"/>
          </a:p>
        </p:txBody>
      </p:sp>
      <p:sp>
        <p:nvSpPr>
          <p:cNvPr id="32" name="Text 30"/>
          <p:cNvSpPr/>
          <p:nvPr/>
        </p:nvSpPr>
        <p:spPr>
          <a:xfrm>
            <a:off x="7479792" y="3813048"/>
            <a:ext cx="3877056" cy="256032"/>
          </a:xfrm>
          <a:prstGeom prst="rect">
            <a:avLst/>
          </a:prstGeom>
          <a:noFill/>
          <a:ln/>
        </p:spPr>
        <p:txBody>
          <a:bodyPr wrap="square" lIns="0" tIns="0" rIns="0" bIns="0" rtlCol="0" anchor="ctr"/>
          <a:lstStyle/>
          <a:p>
            <a:pPr marL="0" indent="0" algn="ctr">
              <a:buNone/>
            </a:pPr>
            <a:r>
              <a:rPr lang="en-US" sz="1900" dirty="0">
                <a:solidFill>
                  <a:srgbClr val="0F172A"/>
                </a:solidFill>
              </a:rPr>
              <a:t>loss.backward(); optimizer.step()</a:t>
            </a:r>
            <a:endParaRPr lang="en-US" sz="1900" dirty="0"/>
          </a:p>
        </p:txBody>
      </p:sp>
      <p:pic>
        <p:nvPicPr>
          <p:cNvPr id="35" name="Audio 34">
            <a:extLst>
              <a:ext uri="{FF2B5EF4-FFF2-40B4-BE49-F238E27FC236}">
                <a16:creationId xmlns:a16="http://schemas.microsoft.com/office/drawing/2014/main" id="{ABD1F4AE-C2AC-B39F-AC99-1A8A3368001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780"/>
    </mc:Choice>
    <mc:Fallback>
      <p:transition spd="slow" advTm="26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2574</TotalTime>
  <Words>3800</Words>
  <Application>Microsoft Macintosh PowerPoint</Application>
  <PresentationFormat>Widescreen</PresentationFormat>
  <Paragraphs>218</Paragraphs>
  <Slides>15</Slides>
  <Notes>15</Notes>
  <HiddenSlides>0</HiddenSlides>
  <MMClips>15</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REINFORCE Detailed Lecture</dc:title>
  <dc:subject>Detailed REINFORCE derivation and code walkthrough</dc:subject>
  <dc:creator>OpenAI</dc:creator>
  <cp:lastModifiedBy>Xiaorui Liu</cp:lastModifiedBy>
  <cp:revision>2</cp:revision>
  <dcterms:created xsi:type="dcterms:W3CDTF">2026-03-08T05:43:43Z</dcterms:created>
  <dcterms:modified xsi:type="dcterms:W3CDTF">2026-03-10T01:07:52Z</dcterms:modified>
</cp:coreProperties>
</file>